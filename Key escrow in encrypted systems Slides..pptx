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embeddedFontLst>
    <p:embeddedFont>
      <p:font typeface="Inter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6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7.png"/><Relationship Id="rId13" Type="http://schemas.openxmlformats.org/officeDocument/2006/relationships/image" Target="../media/image17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5.png"/><Relationship Id="rId4" Type="http://schemas.openxmlformats.org/officeDocument/2006/relationships/image" Target="../media/image22.png"/><Relationship Id="rId9" Type="http://schemas.openxmlformats.org/officeDocument/2006/relationships/image" Target="../media/image2.png"/><Relationship Id="rId15" Type="http://schemas.openxmlformats.org/officeDocument/2006/relationships/image" Target="../media/image16.png"/><Relationship Id="rId14" Type="http://schemas.openxmlformats.org/officeDocument/2006/relationships/image" Target="../media/image14.png"/><Relationship Id="rId17" Type="http://schemas.openxmlformats.org/officeDocument/2006/relationships/image" Target="../media/image19.png"/><Relationship Id="rId16" Type="http://schemas.openxmlformats.org/officeDocument/2006/relationships/image" Target="../media/image38.png"/><Relationship Id="rId5" Type="http://schemas.openxmlformats.org/officeDocument/2006/relationships/image" Target="../media/image3.png"/><Relationship Id="rId19" Type="http://schemas.openxmlformats.org/officeDocument/2006/relationships/image" Target="../media/image18.png"/><Relationship Id="rId6" Type="http://schemas.openxmlformats.org/officeDocument/2006/relationships/image" Target="../media/image1.png"/><Relationship Id="rId18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6.png"/><Relationship Id="rId22" Type="http://schemas.openxmlformats.org/officeDocument/2006/relationships/image" Target="../media/image35.png"/><Relationship Id="rId21" Type="http://schemas.openxmlformats.org/officeDocument/2006/relationships/image" Target="../media/image42.png"/><Relationship Id="rId24" Type="http://schemas.openxmlformats.org/officeDocument/2006/relationships/image" Target="../media/image39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5.png"/><Relationship Id="rId4" Type="http://schemas.openxmlformats.org/officeDocument/2006/relationships/image" Target="../media/image33.png"/><Relationship Id="rId9" Type="http://schemas.openxmlformats.org/officeDocument/2006/relationships/image" Target="../media/image29.png"/><Relationship Id="rId26" Type="http://schemas.openxmlformats.org/officeDocument/2006/relationships/image" Target="../media/image44.png"/><Relationship Id="rId25" Type="http://schemas.openxmlformats.org/officeDocument/2006/relationships/image" Target="../media/image45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Relationship Id="rId11" Type="http://schemas.openxmlformats.org/officeDocument/2006/relationships/image" Target="../media/image30.png"/><Relationship Id="rId10" Type="http://schemas.openxmlformats.org/officeDocument/2006/relationships/image" Target="../media/image34.png"/><Relationship Id="rId13" Type="http://schemas.openxmlformats.org/officeDocument/2006/relationships/image" Target="../media/image31.png"/><Relationship Id="rId12" Type="http://schemas.openxmlformats.org/officeDocument/2006/relationships/image" Target="../media/image28.png"/><Relationship Id="rId15" Type="http://schemas.openxmlformats.org/officeDocument/2006/relationships/image" Target="../media/image32.png"/><Relationship Id="rId14" Type="http://schemas.openxmlformats.org/officeDocument/2006/relationships/image" Target="../media/image24.png"/><Relationship Id="rId17" Type="http://schemas.openxmlformats.org/officeDocument/2006/relationships/image" Target="../media/image41.png"/><Relationship Id="rId16" Type="http://schemas.openxmlformats.org/officeDocument/2006/relationships/image" Target="../media/image40.png"/><Relationship Id="rId19" Type="http://schemas.openxmlformats.org/officeDocument/2006/relationships/image" Target="../media/image43.png"/><Relationship Id="rId18" Type="http://schemas.openxmlformats.org/officeDocument/2006/relationships/image" Target="../media/image7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4.png"/><Relationship Id="rId4" Type="http://schemas.openxmlformats.org/officeDocument/2006/relationships/image" Target="../media/image56.png"/><Relationship Id="rId9" Type="http://schemas.openxmlformats.org/officeDocument/2006/relationships/image" Target="../media/image46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48.png"/><Relationship Id="rId8" Type="http://schemas.openxmlformats.org/officeDocument/2006/relationships/image" Target="../media/image47.png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13" Type="http://schemas.openxmlformats.org/officeDocument/2006/relationships/image" Target="../media/image53.png"/><Relationship Id="rId12" Type="http://schemas.openxmlformats.org/officeDocument/2006/relationships/image" Target="../media/image61.png"/><Relationship Id="rId15" Type="http://schemas.openxmlformats.org/officeDocument/2006/relationships/image" Target="../media/image55.png"/><Relationship Id="rId14" Type="http://schemas.openxmlformats.org/officeDocument/2006/relationships/image" Target="../media/image72.png"/><Relationship Id="rId16" Type="http://schemas.openxmlformats.org/officeDocument/2006/relationships/image" Target="../media/image5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Relationship Id="rId7" Type="http://schemas.openxmlformats.org/officeDocument/2006/relationships/image" Target="../media/image69.png"/><Relationship Id="rId8" Type="http://schemas.openxmlformats.org/officeDocument/2006/relationships/image" Target="../media/image67.png"/><Relationship Id="rId11" Type="http://schemas.openxmlformats.org/officeDocument/2006/relationships/image" Target="../media/image81.png"/><Relationship Id="rId10" Type="http://schemas.openxmlformats.org/officeDocument/2006/relationships/image" Target="../media/image84.png"/><Relationship Id="rId13" Type="http://schemas.openxmlformats.org/officeDocument/2006/relationships/image" Target="../media/image76.png"/><Relationship Id="rId12" Type="http://schemas.openxmlformats.org/officeDocument/2006/relationships/image" Target="../media/image73.png"/><Relationship Id="rId15" Type="http://schemas.openxmlformats.org/officeDocument/2006/relationships/image" Target="../media/image80.png"/><Relationship Id="rId14" Type="http://schemas.openxmlformats.org/officeDocument/2006/relationships/image" Target="../media/image77.png"/><Relationship Id="rId17" Type="http://schemas.openxmlformats.org/officeDocument/2006/relationships/image" Target="../media/image97.png"/><Relationship Id="rId16" Type="http://schemas.openxmlformats.org/officeDocument/2006/relationships/image" Target="../media/image82.png"/><Relationship Id="rId18" Type="http://schemas.openxmlformats.org/officeDocument/2006/relationships/image" Target="../media/image7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4.png"/><Relationship Id="rId4" Type="http://schemas.openxmlformats.org/officeDocument/2006/relationships/image" Target="../media/image102.png"/><Relationship Id="rId9" Type="http://schemas.openxmlformats.org/officeDocument/2006/relationships/image" Target="../media/image87.png"/><Relationship Id="rId5" Type="http://schemas.openxmlformats.org/officeDocument/2006/relationships/image" Target="../media/image79.png"/><Relationship Id="rId6" Type="http://schemas.openxmlformats.org/officeDocument/2006/relationships/image" Target="../media/image78.png"/><Relationship Id="rId7" Type="http://schemas.openxmlformats.org/officeDocument/2006/relationships/image" Target="../media/image83.png"/><Relationship Id="rId8" Type="http://schemas.openxmlformats.org/officeDocument/2006/relationships/image" Target="../media/image92.png"/><Relationship Id="rId11" Type="http://schemas.openxmlformats.org/officeDocument/2006/relationships/image" Target="../media/image86.png"/><Relationship Id="rId10" Type="http://schemas.openxmlformats.org/officeDocument/2006/relationships/image" Target="../media/image89.png"/><Relationship Id="rId13" Type="http://schemas.openxmlformats.org/officeDocument/2006/relationships/image" Target="../media/image90.png"/><Relationship Id="rId12" Type="http://schemas.openxmlformats.org/officeDocument/2006/relationships/image" Target="../media/image85.png"/><Relationship Id="rId15" Type="http://schemas.openxmlformats.org/officeDocument/2006/relationships/image" Target="../media/image93.png"/><Relationship Id="rId14" Type="http://schemas.openxmlformats.org/officeDocument/2006/relationships/image" Target="../media/image88.png"/><Relationship Id="rId17" Type="http://schemas.openxmlformats.org/officeDocument/2006/relationships/image" Target="../media/image96.png"/><Relationship Id="rId16" Type="http://schemas.openxmlformats.org/officeDocument/2006/relationships/image" Target="../media/image91.png"/><Relationship Id="rId19" Type="http://schemas.openxmlformats.org/officeDocument/2006/relationships/image" Target="../media/image103.png"/><Relationship Id="rId18" Type="http://schemas.openxmlformats.org/officeDocument/2006/relationships/image" Target="../media/image95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4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5" Type="http://schemas.openxmlformats.org/officeDocument/2006/relationships/image" Target="../media/image100.png"/><Relationship Id="rId6" Type="http://schemas.openxmlformats.org/officeDocument/2006/relationships/image" Target="../media/image107.png"/><Relationship Id="rId7" Type="http://schemas.openxmlformats.org/officeDocument/2006/relationships/image" Target="../media/image106.png"/><Relationship Id="rId8" Type="http://schemas.openxmlformats.org/officeDocument/2006/relationships/image" Target="../media/image104.png"/><Relationship Id="rId11" Type="http://schemas.openxmlformats.org/officeDocument/2006/relationships/image" Target="../media/image117.png"/><Relationship Id="rId10" Type="http://schemas.openxmlformats.org/officeDocument/2006/relationships/image" Target="../media/image98.png"/><Relationship Id="rId13" Type="http://schemas.openxmlformats.org/officeDocument/2006/relationships/image" Target="../media/image101.png"/><Relationship Id="rId12" Type="http://schemas.openxmlformats.org/officeDocument/2006/relationships/image" Target="../media/image112.png"/><Relationship Id="rId15" Type="http://schemas.openxmlformats.org/officeDocument/2006/relationships/image" Target="../media/image110.png"/><Relationship Id="rId14" Type="http://schemas.openxmlformats.org/officeDocument/2006/relationships/image" Target="../media/image105.png"/><Relationship Id="rId17" Type="http://schemas.openxmlformats.org/officeDocument/2006/relationships/image" Target="../media/image118.png"/><Relationship Id="rId16" Type="http://schemas.openxmlformats.org/officeDocument/2006/relationships/image" Target="../media/image115.png"/><Relationship Id="rId19" Type="http://schemas.openxmlformats.org/officeDocument/2006/relationships/image" Target="../media/image125.png"/><Relationship Id="rId18" Type="http://schemas.openxmlformats.org/officeDocument/2006/relationships/image" Target="../media/image10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4.png"/><Relationship Id="rId4" Type="http://schemas.openxmlformats.org/officeDocument/2006/relationships/image" Target="../media/image134.png"/><Relationship Id="rId9" Type="http://schemas.openxmlformats.org/officeDocument/2006/relationships/image" Target="../media/image120.png"/><Relationship Id="rId5" Type="http://schemas.openxmlformats.org/officeDocument/2006/relationships/image" Target="../media/image139.png"/><Relationship Id="rId6" Type="http://schemas.openxmlformats.org/officeDocument/2006/relationships/image" Target="../media/image124.png"/><Relationship Id="rId7" Type="http://schemas.openxmlformats.org/officeDocument/2006/relationships/image" Target="../media/image116.png"/><Relationship Id="rId8" Type="http://schemas.openxmlformats.org/officeDocument/2006/relationships/image" Target="../media/image113.png"/><Relationship Id="rId11" Type="http://schemas.openxmlformats.org/officeDocument/2006/relationships/image" Target="../media/image122.png"/><Relationship Id="rId10" Type="http://schemas.openxmlformats.org/officeDocument/2006/relationships/image" Target="../media/image126.png"/><Relationship Id="rId13" Type="http://schemas.openxmlformats.org/officeDocument/2006/relationships/image" Target="../media/image131.png"/><Relationship Id="rId12" Type="http://schemas.openxmlformats.org/officeDocument/2006/relationships/image" Target="../media/image158.png"/><Relationship Id="rId15" Type="http://schemas.openxmlformats.org/officeDocument/2006/relationships/image" Target="../media/image133.png"/><Relationship Id="rId14" Type="http://schemas.openxmlformats.org/officeDocument/2006/relationships/image" Target="../media/image130.png"/><Relationship Id="rId17" Type="http://schemas.openxmlformats.org/officeDocument/2006/relationships/image" Target="../media/image128.png"/><Relationship Id="rId16" Type="http://schemas.openxmlformats.org/officeDocument/2006/relationships/image" Target="../media/image127.png"/><Relationship Id="rId19" Type="http://schemas.openxmlformats.org/officeDocument/2006/relationships/image" Target="../media/image135.png"/><Relationship Id="rId18" Type="http://schemas.openxmlformats.org/officeDocument/2006/relationships/image" Target="../media/image132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1.png"/><Relationship Id="rId22" Type="http://schemas.openxmlformats.org/officeDocument/2006/relationships/image" Target="../media/image163.png"/><Relationship Id="rId21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4.png"/><Relationship Id="rId4" Type="http://schemas.openxmlformats.org/officeDocument/2006/relationships/image" Target="../media/image148.png"/><Relationship Id="rId9" Type="http://schemas.openxmlformats.org/officeDocument/2006/relationships/image" Target="../media/image143.png"/><Relationship Id="rId5" Type="http://schemas.openxmlformats.org/officeDocument/2006/relationships/image" Target="../media/image189.png"/><Relationship Id="rId6" Type="http://schemas.openxmlformats.org/officeDocument/2006/relationships/image" Target="../media/image136.png"/><Relationship Id="rId7" Type="http://schemas.openxmlformats.org/officeDocument/2006/relationships/image" Target="../media/image140.png"/><Relationship Id="rId8" Type="http://schemas.openxmlformats.org/officeDocument/2006/relationships/image" Target="../media/image142.png"/><Relationship Id="rId11" Type="http://schemas.openxmlformats.org/officeDocument/2006/relationships/image" Target="../media/image150.png"/><Relationship Id="rId10" Type="http://schemas.openxmlformats.org/officeDocument/2006/relationships/image" Target="../media/image147.png"/><Relationship Id="rId13" Type="http://schemas.openxmlformats.org/officeDocument/2006/relationships/image" Target="../media/image145.png"/><Relationship Id="rId12" Type="http://schemas.openxmlformats.org/officeDocument/2006/relationships/image" Target="../media/image144.png"/><Relationship Id="rId15" Type="http://schemas.openxmlformats.org/officeDocument/2006/relationships/image" Target="../media/image146.png"/><Relationship Id="rId14" Type="http://schemas.openxmlformats.org/officeDocument/2006/relationships/image" Target="../media/image141.png"/><Relationship Id="rId17" Type="http://schemas.openxmlformats.org/officeDocument/2006/relationships/image" Target="../media/image149.png"/><Relationship Id="rId16" Type="http://schemas.openxmlformats.org/officeDocument/2006/relationships/image" Target="../media/image153.png"/><Relationship Id="rId19" Type="http://schemas.openxmlformats.org/officeDocument/2006/relationships/image" Target="../media/image156.png"/><Relationship Id="rId18" Type="http://schemas.openxmlformats.org/officeDocument/2006/relationships/image" Target="../media/image157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7.png"/><Relationship Id="rId22" Type="http://schemas.openxmlformats.org/officeDocument/2006/relationships/image" Target="../media/image179.png"/><Relationship Id="rId21" Type="http://schemas.openxmlformats.org/officeDocument/2006/relationships/image" Target="../media/image172.png"/><Relationship Id="rId23" Type="http://schemas.openxmlformats.org/officeDocument/2006/relationships/image" Target="../media/image1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6.png"/><Relationship Id="rId4" Type="http://schemas.openxmlformats.org/officeDocument/2006/relationships/image" Target="../media/image164.png"/><Relationship Id="rId9" Type="http://schemas.openxmlformats.org/officeDocument/2006/relationships/image" Target="../media/image168.png"/><Relationship Id="rId5" Type="http://schemas.openxmlformats.org/officeDocument/2006/relationships/image" Target="../media/image159.png"/><Relationship Id="rId6" Type="http://schemas.openxmlformats.org/officeDocument/2006/relationships/image" Target="../media/image155.png"/><Relationship Id="rId7" Type="http://schemas.openxmlformats.org/officeDocument/2006/relationships/image" Target="../media/image171.png"/><Relationship Id="rId8" Type="http://schemas.openxmlformats.org/officeDocument/2006/relationships/image" Target="../media/image161.png"/><Relationship Id="rId11" Type="http://schemas.openxmlformats.org/officeDocument/2006/relationships/image" Target="../media/image166.png"/><Relationship Id="rId10" Type="http://schemas.openxmlformats.org/officeDocument/2006/relationships/image" Target="../media/image167.png"/><Relationship Id="rId13" Type="http://schemas.openxmlformats.org/officeDocument/2006/relationships/image" Target="../media/image177.png"/><Relationship Id="rId12" Type="http://schemas.openxmlformats.org/officeDocument/2006/relationships/image" Target="../media/image185.png"/><Relationship Id="rId15" Type="http://schemas.openxmlformats.org/officeDocument/2006/relationships/image" Target="../media/image175.png"/><Relationship Id="rId14" Type="http://schemas.openxmlformats.org/officeDocument/2006/relationships/image" Target="../media/image170.png"/><Relationship Id="rId17" Type="http://schemas.openxmlformats.org/officeDocument/2006/relationships/image" Target="../media/image180.png"/><Relationship Id="rId16" Type="http://schemas.openxmlformats.org/officeDocument/2006/relationships/image" Target="../media/image173.png"/><Relationship Id="rId19" Type="http://schemas.openxmlformats.org/officeDocument/2006/relationships/image" Target="../media/image174.png"/><Relationship Id="rId18" Type="http://schemas.openxmlformats.org/officeDocument/2006/relationships/image" Target="../media/image176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3.png"/><Relationship Id="rId22" Type="http://schemas.openxmlformats.org/officeDocument/2006/relationships/image" Target="../media/image200.png"/><Relationship Id="rId21" Type="http://schemas.openxmlformats.org/officeDocument/2006/relationships/image" Target="../media/image204.png"/><Relationship Id="rId24" Type="http://schemas.openxmlformats.org/officeDocument/2006/relationships/image" Target="../media/image212.png"/><Relationship Id="rId23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6.png"/><Relationship Id="rId4" Type="http://schemas.openxmlformats.org/officeDocument/2006/relationships/image" Target="../media/image196.png"/><Relationship Id="rId9" Type="http://schemas.openxmlformats.org/officeDocument/2006/relationships/image" Target="../media/image188.png"/><Relationship Id="rId25" Type="http://schemas.openxmlformats.org/officeDocument/2006/relationships/image" Target="../media/image201.png"/><Relationship Id="rId5" Type="http://schemas.openxmlformats.org/officeDocument/2006/relationships/image" Target="../media/image182.png"/><Relationship Id="rId6" Type="http://schemas.openxmlformats.org/officeDocument/2006/relationships/image" Target="../media/image186.png"/><Relationship Id="rId7" Type="http://schemas.openxmlformats.org/officeDocument/2006/relationships/image" Target="../media/image178.png"/><Relationship Id="rId8" Type="http://schemas.openxmlformats.org/officeDocument/2006/relationships/image" Target="../media/image202.png"/><Relationship Id="rId11" Type="http://schemas.openxmlformats.org/officeDocument/2006/relationships/image" Target="../media/image195.png"/><Relationship Id="rId10" Type="http://schemas.openxmlformats.org/officeDocument/2006/relationships/image" Target="../media/image192.png"/><Relationship Id="rId13" Type="http://schemas.openxmlformats.org/officeDocument/2006/relationships/image" Target="../media/image199.png"/><Relationship Id="rId12" Type="http://schemas.openxmlformats.org/officeDocument/2006/relationships/image" Target="../media/image209.png"/><Relationship Id="rId15" Type="http://schemas.openxmlformats.org/officeDocument/2006/relationships/image" Target="../media/image193.png"/><Relationship Id="rId14" Type="http://schemas.openxmlformats.org/officeDocument/2006/relationships/image" Target="../media/image198.png"/><Relationship Id="rId17" Type="http://schemas.openxmlformats.org/officeDocument/2006/relationships/image" Target="../media/image233.png"/><Relationship Id="rId16" Type="http://schemas.openxmlformats.org/officeDocument/2006/relationships/image" Target="../media/image190.png"/><Relationship Id="rId19" Type="http://schemas.openxmlformats.org/officeDocument/2006/relationships/image" Target="../media/image194.png"/><Relationship Id="rId18" Type="http://schemas.openxmlformats.org/officeDocument/2006/relationships/image" Target="../media/image207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0.png"/><Relationship Id="rId22" Type="http://schemas.openxmlformats.org/officeDocument/2006/relationships/image" Target="../media/image238.png"/><Relationship Id="rId21" Type="http://schemas.openxmlformats.org/officeDocument/2006/relationships/image" Target="../media/image227.png"/><Relationship Id="rId24" Type="http://schemas.openxmlformats.org/officeDocument/2006/relationships/image" Target="../media/image224.png"/><Relationship Id="rId23" Type="http://schemas.openxmlformats.org/officeDocument/2006/relationships/image" Target="../media/image2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4.png"/><Relationship Id="rId4" Type="http://schemas.openxmlformats.org/officeDocument/2006/relationships/image" Target="../media/image225.png"/><Relationship Id="rId9" Type="http://schemas.openxmlformats.org/officeDocument/2006/relationships/image" Target="../media/image220.png"/><Relationship Id="rId5" Type="http://schemas.openxmlformats.org/officeDocument/2006/relationships/image" Target="../media/image214.png"/><Relationship Id="rId6" Type="http://schemas.openxmlformats.org/officeDocument/2006/relationships/image" Target="../media/image206.png"/><Relationship Id="rId7" Type="http://schemas.openxmlformats.org/officeDocument/2006/relationships/image" Target="../media/image208.png"/><Relationship Id="rId8" Type="http://schemas.openxmlformats.org/officeDocument/2006/relationships/image" Target="../media/image219.png"/><Relationship Id="rId11" Type="http://schemas.openxmlformats.org/officeDocument/2006/relationships/image" Target="../media/image213.png"/><Relationship Id="rId10" Type="http://schemas.openxmlformats.org/officeDocument/2006/relationships/image" Target="../media/image222.png"/><Relationship Id="rId13" Type="http://schemas.openxmlformats.org/officeDocument/2006/relationships/image" Target="../media/image223.png"/><Relationship Id="rId12" Type="http://schemas.openxmlformats.org/officeDocument/2006/relationships/image" Target="../media/image217.png"/><Relationship Id="rId15" Type="http://schemas.openxmlformats.org/officeDocument/2006/relationships/image" Target="../media/image216.png"/><Relationship Id="rId14" Type="http://schemas.openxmlformats.org/officeDocument/2006/relationships/image" Target="../media/image226.png"/><Relationship Id="rId17" Type="http://schemas.openxmlformats.org/officeDocument/2006/relationships/image" Target="../media/image221.png"/><Relationship Id="rId16" Type="http://schemas.openxmlformats.org/officeDocument/2006/relationships/image" Target="../media/image231.png"/><Relationship Id="rId19" Type="http://schemas.openxmlformats.org/officeDocument/2006/relationships/image" Target="../media/image229.png"/><Relationship Id="rId18" Type="http://schemas.openxmlformats.org/officeDocument/2006/relationships/image" Target="../media/image228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0.png"/><Relationship Id="rId22" Type="http://schemas.openxmlformats.org/officeDocument/2006/relationships/image" Target="../media/image263.png"/><Relationship Id="rId21" Type="http://schemas.openxmlformats.org/officeDocument/2006/relationships/image" Target="../media/image247.png"/><Relationship Id="rId24" Type="http://schemas.openxmlformats.org/officeDocument/2006/relationships/image" Target="../media/image255.png"/><Relationship Id="rId23" Type="http://schemas.openxmlformats.org/officeDocument/2006/relationships/image" Target="../media/image2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4.png"/><Relationship Id="rId4" Type="http://schemas.openxmlformats.org/officeDocument/2006/relationships/image" Target="../media/image244.png"/><Relationship Id="rId9" Type="http://schemas.openxmlformats.org/officeDocument/2006/relationships/image" Target="../media/image239.png"/><Relationship Id="rId26" Type="http://schemas.openxmlformats.org/officeDocument/2006/relationships/image" Target="../media/image274.png"/><Relationship Id="rId25" Type="http://schemas.openxmlformats.org/officeDocument/2006/relationships/image" Target="../media/image253.png"/><Relationship Id="rId27" Type="http://schemas.openxmlformats.org/officeDocument/2006/relationships/image" Target="../media/image271.png"/><Relationship Id="rId5" Type="http://schemas.openxmlformats.org/officeDocument/2006/relationships/image" Target="../media/image257.png"/><Relationship Id="rId6" Type="http://schemas.openxmlformats.org/officeDocument/2006/relationships/image" Target="../media/image236.png"/><Relationship Id="rId7" Type="http://schemas.openxmlformats.org/officeDocument/2006/relationships/image" Target="../media/image235.png"/><Relationship Id="rId8" Type="http://schemas.openxmlformats.org/officeDocument/2006/relationships/image" Target="../media/image242.png"/><Relationship Id="rId11" Type="http://schemas.openxmlformats.org/officeDocument/2006/relationships/image" Target="../media/image232.png"/><Relationship Id="rId10" Type="http://schemas.openxmlformats.org/officeDocument/2006/relationships/image" Target="../media/image234.png"/><Relationship Id="rId13" Type="http://schemas.openxmlformats.org/officeDocument/2006/relationships/image" Target="../media/image237.png"/><Relationship Id="rId12" Type="http://schemas.openxmlformats.org/officeDocument/2006/relationships/image" Target="../media/image241.png"/><Relationship Id="rId15" Type="http://schemas.openxmlformats.org/officeDocument/2006/relationships/image" Target="../media/image254.png"/><Relationship Id="rId14" Type="http://schemas.openxmlformats.org/officeDocument/2006/relationships/image" Target="../media/image245.png"/><Relationship Id="rId17" Type="http://schemas.openxmlformats.org/officeDocument/2006/relationships/image" Target="../media/image252.png"/><Relationship Id="rId16" Type="http://schemas.openxmlformats.org/officeDocument/2006/relationships/image" Target="../media/image249.png"/><Relationship Id="rId19" Type="http://schemas.openxmlformats.org/officeDocument/2006/relationships/image" Target="../media/image243.png"/><Relationship Id="rId18" Type="http://schemas.openxmlformats.org/officeDocument/2006/relationships/image" Target="../media/image256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6.png"/><Relationship Id="rId22" Type="http://schemas.openxmlformats.org/officeDocument/2006/relationships/image" Target="../media/image278.png"/><Relationship Id="rId21" Type="http://schemas.openxmlformats.org/officeDocument/2006/relationships/image" Target="../media/image290.png"/><Relationship Id="rId24" Type="http://schemas.openxmlformats.org/officeDocument/2006/relationships/image" Target="../media/image285.png"/><Relationship Id="rId23" Type="http://schemas.openxmlformats.org/officeDocument/2006/relationships/image" Target="../media/image28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png"/><Relationship Id="rId4" Type="http://schemas.openxmlformats.org/officeDocument/2006/relationships/image" Target="../media/image284.png"/><Relationship Id="rId9" Type="http://schemas.openxmlformats.org/officeDocument/2006/relationships/image" Target="../media/image260.png"/><Relationship Id="rId25" Type="http://schemas.openxmlformats.org/officeDocument/2006/relationships/image" Target="../media/image282.png"/><Relationship Id="rId5" Type="http://schemas.openxmlformats.org/officeDocument/2006/relationships/image" Target="../media/image281.png"/><Relationship Id="rId6" Type="http://schemas.openxmlformats.org/officeDocument/2006/relationships/image" Target="../media/image261.png"/><Relationship Id="rId7" Type="http://schemas.openxmlformats.org/officeDocument/2006/relationships/image" Target="../media/image276.png"/><Relationship Id="rId8" Type="http://schemas.openxmlformats.org/officeDocument/2006/relationships/image" Target="../media/image259.png"/><Relationship Id="rId11" Type="http://schemas.openxmlformats.org/officeDocument/2006/relationships/image" Target="../media/image268.png"/><Relationship Id="rId10" Type="http://schemas.openxmlformats.org/officeDocument/2006/relationships/image" Target="../media/image258.png"/><Relationship Id="rId13" Type="http://schemas.openxmlformats.org/officeDocument/2006/relationships/image" Target="../media/image267.png"/><Relationship Id="rId12" Type="http://schemas.openxmlformats.org/officeDocument/2006/relationships/image" Target="../media/image270.png"/><Relationship Id="rId15" Type="http://schemas.openxmlformats.org/officeDocument/2006/relationships/image" Target="../media/image272.png"/><Relationship Id="rId14" Type="http://schemas.openxmlformats.org/officeDocument/2006/relationships/image" Target="../media/image262.png"/><Relationship Id="rId17" Type="http://schemas.openxmlformats.org/officeDocument/2006/relationships/image" Target="../media/image279.png"/><Relationship Id="rId16" Type="http://schemas.openxmlformats.org/officeDocument/2006/relationships/image" Target="../media/image264.png"/><Relationship Id="rId19" Type="http://schemas.openxmlformats.org/officeDocument/2006/relationships/image" Target="../media/image307.png"/><Relationship Id="rId18" Type="http://schemas.openxmlformats.org/officeDocument/2006/relationships/image" Target="../media/image287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4.png"/><Relationship Id="rId4" Type="http://schemas.openxmlformats.org/officeDocument/2006/relationships/image" Target="../media/image288.png"/><Relationship Id="rId9" Type="http://schemas.openxmlformats.org/officeDocument/2006/relationships/image" Target="../media/image298.png"/><Relationship Id="rId5" Type="http://schemas.openxmlformats.org/officeDocument/2006/relationships/image" Target="../media/image291.png"/><Relationship Id="rId6" Type="http://schemas.openxmlformats.org/officeDocument/2006/relationships/image" Target="../media/image292.png"/><Relationship Id="rId7" Type="http://schemas.openxmlformats.org/officeDocument/2006/relationships/image" Target="../media/image289.png"/><Relationship Id="rId8" Type="http://schemas.openxmlformats.org/officeDocument/2006/relationships/image" Target="../media/image294.png"/><Relationship Id="rId11" Type="http://schemas.openxmlformats.org/officeDocument/2006/relationships/image" Target="../media/image299.png"/><Relationship Id="rId10" Type="http://schemas.openxmlformats.org/officeDocument/2006/relationships/image" Target="../media/image293.png"/><Relationship Id="rId13" Type="http://schemas.openxmlformats.org/officeDocument/2006/relationships/image" Target="../media/image295.png"/><Relationship Id="rId12" Type="http://schemas.openxmlformats.org/officeDocument/2006/relationships/image" Target="../media/image297.png"/><Relationship Id="rId15" Type="http://schemas.openxmlformats.org/officeDocument/2006/relationships/image" Target="../media/image302.png"/><Relationship Id="rId14" Type="http://schemas.openxmlformats.org/officeDocument/2006/relationships/image" Target="../media/image303.png"/><Relationship Id="rId17" Type="http://schemas.openxmlformats.org/officeDocument/2006/relationships/image" Target="../media/image296.png"/><Relationship Id="rId16" Type="http://schemas.openxmlformats.org/officeDocument/2006/relationships/image" Target="../media/image300.png"/><Relationship Id="rId19" Type="http://schemas.openxmlformats.org/officeDocument/2006/relationships/image" Target="../media/image305.png"/><Relationship Id="rId18" Type="http://schemas.openxmlformats.org/officeDocument/2006/relationships/image" Target="../media/image3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4.png"/><Relationship Id="rId4" Type="http://schemas.openxmlformats.org/officeDocument/2006/relationships/image" Target="../media/image326.png"/><Relationship Id="rId9" Type="http://schemas.openxmlformats.org/officeDocument/2006/relationships/image" Target="../media/image315.png"/><Relationship Id="rId5" Type="http://schemas.openxmlformats.org/officeDocument/2006/relationships/image" Target="../media/image316.png"/><Relationship Id="rId6" Type="http://schemas.openxmlformats.org/officeDocument/2006/relationships/image" Target="../media/image308.png"/><Relationship Id="rId7" Type="http://schemas.openxmlformats.org/officeDocument/2006/relationships/image" Target="../media/image312.png"/><Relationship Id="rId8" Type="http://schemas.openxmlformats.org/officeDocument/2006/relationships/image" Target="../media/image313.png"/><Relationship Id="rId11" Type="http://schemas.openxmlformats.org/officeDocument/2006/relationships/image" Target="../media/image314.png"/><Relationship Id="rId10" Type="http://schemas.openxmlformats.org/officeDocument/2006/relationships/image" Target="../media/image318.png"/><Relationship Id="rId12" Type="http://schemas.openxmlformats.org/officeDocument/2006/relationships/image" Target="../media/image3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4.png"/><Relationship Id="rId4" Type="http://schemas.openxmlformats.org/officeDocument/2006/relationships/image" Target="../media/image320.png"/><Relationship Id="rId9" Type="http://schemas.openxmlformats.org/officeDocument/2006/relationships/image" Target="../media/image324.png"/><Relationship Id="rId5" Type="http://schemas.openxmlformats.org/officeDocument/2006/relationships/image" Target="../media/image351.png"/><Relationship Id="rId6" Type="http://schemas.openxmlformats.org/officeDocument/2006/relationships/image" Target="../media/image329.png"/><Relationship Id="rId7" Type="http://schemas.openxmlformats.org/officeDocument/2006/relationships/image" Target="../media/image321.png"/><Relationship Id="rId8" Type="http://schemas.openxmlformats.org/officeDocument/2006/relationships/image" Target="../media/image332.png"/><Relationship Id="rId11" Type="http://schemas.openxmlformats.org/officeDocument/2006/relationships/image" Target="../media/image322.png"/><Relationship Id="rId10" Type="http://schemas.openxmlformats.org/officeDocument/2006/relationships/image" Target="../media/image327.png"/><Relationship Id="rId13" Type="http://schemas.openxmlformats.org/officeDocument/2006/relationships/image" Target="../media/image325.png"/><Relationship Id="rId12" Type="http://schemas.openxmlformats.org/officeDocument/2006/relationships/image" Target="../media/image330.png"/><Relationship Id="rId15" Type="http://schemas.openxmlformats.org/officeDocument/2006/relationships/image" Target="../media/image333.png"/><Relationship Id="rId14" Type="http://schemas.openxmlformats.org/officeDocument/2006/relationships/image" Target="../media/image323.png"/><Relationship Id="rId17" Type="http://schemas.openxmlformats.org/officeDocument/2006/relationships/image" Target="../media/image337.png"/><Relationship Id="rId16" Type="http://schemas.openxmlformats.org/officeDocument/2006/relationships/image" Target="../media/image328.png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4.png"/><Relationship Id="rId22" Type="http://schemas.openxmlformats.org/officeDocument/2006/relationships/image" Target="../media/image355.png"/><Relationship Id="rId21" Type="http://schemas.openxmlformats.org/officeDocument/2006/relationships/image" Target="../media/image356.png"/><Relationship Id="rId24" Type="http://schemas.openxmlformats.org/officeDocument/2006/relationships/image" Target="../media/image371.png"/><Relationship Id="rId23" Type="http://schemas.openxmlformats.org/officeDocument/2006/relationships/image" Target="../media/image3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4.png"/><Relationship Id="rId4" Type="http://schemas.openxmlformats.org/officeDocument/2006/relationships/image" Target="../media/image350.png"/><Relationship Id="rId9" Type="http://schemas.openxmlformats.org/officeDocument/2006/relationships/image" Target="../media/image348.png"/><Relationship Id="rId5" Type="http://schemas.openxmlformats.org/officeDocument/2006/relationships/image" Target="../media/image336.png"/><Relationship Id="rId6" Type="http://schemas.openxmlformats.org/officeDocument/2006/relationships/image" Target="../media/image346.png"/><Relationship Id="rId7" Type="http://schemas.openxmlformats.org/officeDocument/2006/relationships/image" Target="../media/image342.png"/><Relationship Id="rId8" Type="http://schemas.openxmlformats.org/officeDocument/2006/relationships/image" Target="../media/image339.png"/><Relationship Id="rId11" Type="http://schemas.openxmlformats.org/officeDocument/2006/relationships/image" Target="../media/image347.png"/><Relationship Id="rId10" Type="http://schemas.openxmlformats.org/officeDocument/2006/relationships/image" Target="../media/image340.png"/><Relationship Id="rId13" Type="http://schemas.openxmlformats.org/officeDocument/2006/relationships/image" Target="../media/image357.png"/><Relationship Id="rId12" Type="http://schemas.openxmlformats.org/officeDocument/2006/relationships/image" Target="../media/image361.png"/><Relationship Id="rId15" Type="http://schemas.openxmlformats.org/officeDocument/2006/relationships/image" Target="../media/image345.png"/><Relationship Id="rId14" Type="http://schemas.openxmlformats.org/officeDocument/2006/relationships/image" Target="../media/image343.png"/><Relationship Id="rId17" Type="http://schemas.openxmlformats.org/officeDocument/2006/relationships/image" Target="../media/image358.png"/><Relationship Id="rId16" Type="http://schemas.openxmlformats.org/officeDocument/2006/relationships/image" Target="../media/image341.png"/><Relationship Id="rId19" Type="http://schemas.openxmlformats.org/officeDocument/2006/relationships/image" Target="../media/image352.png"/><Relationship Id="rId18" Type="http://schemas.openxmlformats.org/officeDocument/2006/relationships/image" Target="../media/image3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4.png"/><Relationship Id="rId4" Type="http://schemas.openxmlformats.org/officeDocument/2006/relationships/image" Target="../media/image380.png"/><Relationship Id="rId9" Type="http://schemas.openxmlformats.org/officeDocument/2006/relationships/image" Target="../media/image365.png"/><Relationship Id="rId5" Type="http://schemas.openxmlformats.org/officeDocument/2006/relationships/image" Target="../media/image367.png"/><Relationship Id="rId6" Type="http://schemas.openxmlformats.org/officeDocument/2006/relationships/image" Target="../media/image372.png"/><Relationship Id="rId7" Type="http://schemas.openxmlformats.org/officeDocument/2006/relationships/image" Target="../media/image366.png"/><Relationship Id="rId8" Type="http://schemas.openxmlformats.org/officeDocument/2006/relationships/image" Target="../media/image362.png"/><Relationship Id="rId11" Type="http://schemas.openxmlformats.org/officeDocument/2006/relationships/image" Target="../media/image369.png"/><Relationship Id="rId10" Type="http://schemas.openxmlformats.org/officeDocument/2006/relationships/image" Target="../media/image370.png"/><Relationship Id="rId13" Type="http://schemas.openxmlformats.org/officeDocument/2006/relationships/image" Target="../media/image376.png"/><Relationship Id="rId12" Type="http://schemas.openxmlformats.org/officeDocument/2006/relationships/image" Target="../media/image373.png"/><Relationship Id="rId15" Type="http://schemas.openxmlformats.org/officeDocument/2006/relationships/image" Target="../media/image382.png"/><Relationship Id="rId14" Type="http://schemas.openxmlformats.org/officeDocument/2006/relationships/image" Target="../media/image374.png"/><Relationship Id="rId17" Type="http://schemas.openxmlformats.org/officeDocument/2006/relationships/image" Target="../media/image379.png"/><Relationship Id="rId16" Type="http://schemas.openxmlformats.org/officeDocument/2006/relationships/image" Target="../media/image391.png"/><Relationship Id="rId19" Type="http://schemas.openxmlformats.org/officeDocument/2006/relationships/image" Target="../media/image388.png"/><Relationship Id="rId18" Type="http://schemas.openxmlformats.org/officeDocument/2006/relationships/image" Target="../media/image37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Relationship Id="rId4" Type="http://schemas.openxmlformats.org/officeDocument/2006/relationships/image" Target="../media/image392.png"/><Relationship Id="rId9" Type="http://schemas.openxmlformats.org/officeDocument/2006/relationships/image" Target="../media/image383.png"/><Relationship Id="rId5" Type="http://schemas.openxmlformats.org/officeDocument/2006/relationships/image" Target="../media/image400.png"/><Relationship Id="rId6" Type="http://schemas.openxmlformats.org/officeDocument/2006/relationships/image" Target="../media/image386.png"/><Relationship Id="rId7" Type="http://schemas.openxmlformats.org/officeDocument/2006/relationships/image" Target="../media/image378.png"/><Relationship Id="rId8" Type="http://schemas.openxmlformats.org/officeDocument/2006/relationships/image" Target="../media/image381.png"/><Relationship Id="rId11" Type="http://schemas.openxmlformats.org/officeDocument/2006/relationships/image" Target="../media/image387.png"/><Relationship Id="rId10" Type="http://schemas.openxmlformats.org/officeDocument/2006/relationships/image" Target="../media/image385.png"/><Relationship Id="rId13" Type="http://schemas.openxmlformats.org/officeDocument/2006/relationships/image" Target="../media/image395.png"/><Relationship Id="rId12" Type="http://schemas.openxmlformats.org/officeDocument/2006/relationships/image" Target="../media/image389.png"/><Relationship Id="rId14" Type="http://schemas.openxmlformats.org/officeDocument/2006/relationships/image" Target="../media/image38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00600"/>
            <a:ext cx="51816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0"/>
            <a:ext cx="914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72651" y="6248400"/>
            <a:ext cx="8383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828675" y="833425"/>
            <a:ext cx="303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REVISED RESEARCH DRAFT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62000" y="1828800"/>
            <a:ext cx="5181600" cy="2011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Escrow in Encrypted Systems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62000" y="5105400"/>
            <a:ext cx="5181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PRESENTED BY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62000" y="5295900"/>
            <a:ext cx="518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Open Sans"/>
              <a:buNone/>
            </a:pPr>
            <a:r>
              <a:rPr b="1" lang="en-US" sz="15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Ali Abubaker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62000" y="5715000"/>
            <a:ext cx="260604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COURSE / DEPARTMENT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62000" y="59055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Open Sans"/>
              <a:buNone/>
            </a:pPr>
            <a:r>
              <a:rPr lang="en-US" sz="105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Encryption/CS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505200" y="5715000"/>
            <a:ext cx="2438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UNIVERSITY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505200" y="59055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Open Sans"/>
              <a:buNone/>
            </a:pPr>
            <a:r>
              <a:rPr lang="en-US" sz="105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An-Najah National University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1048851" y="6248400"/>
            <a:ext cx="1143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2026-04-15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1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1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944" y="482958"/>
            <a:ext cx="10904030" cy="685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944" y="1490629"/>
            <a:ext cx="5258831" cy="371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1521" y="1748206"/>
            <a:ext cx="386366" cy="386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2014" y="1823794"/>
            <a:ext cx="225380" cy="235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1521" y="3404601"/>
            <a:ext cx="136838" cy="156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1521" y="3762040"/>
            <a:ext cx="136838" cy="1563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1521" y="4127528"/>
            <a:ext cx="136838" cy="156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89141" y="1490629"/>
            <a:ext cx="5258832" cy="371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46718" y="1748206"/>
            <a:ext cx="386367" cy="386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27212" y="1823794"/>
            <a:ext cx="225380" cy="235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46718" y="3126145"/>
            <a:ext cx="152937" cy="152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46718" y="3483584"/>
            <a:ext cx="152937" cy="152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46718" y="3841023"/>
            <a:ext cx="152937" cy="152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3944" y="5531375"/>
            <a:ext cx="10904030" cy="8436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7127" y="5774489"/>
            <a:ext cx="1352282" cy="357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318197" y="5876741"/>
            <a:ext cx="152937" cy="152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599922" y="5774489"/>
            <a:ext cx="1320085" cy="35743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37127" y="482958"/>
            <a:ext cx="10675430" cy="685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416676" y="1812601"/>
            <a:ext cx="7790688" cy="25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Confidentiality Strength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01521" y="2327756"/>
            <a:ext cx="4743676" cy="835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Modern encryption is the cornerstone of data security, ensuring that sensitive information remains protected from unauthorized access.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34951" y="3356305"/>
            <a:ext cx="8007082" cy="2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Protects data at rest and in transit.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134951" y="3713744"/>
            <a:ext cx="10603973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Relies on the availability of cryptographic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134951" y="4079232"/>
            <a:ext cx="11036789" cy="2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Ensures integrity and privacy for legitimate users.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061874" y="1812601"/>
            <a:ext cx="5130126" cy="25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Recovery Paradox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546718" y="2327756"/>
            <a:ext cx="4743676" cy="556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Strength becomes a vulnerability when keys are lost. Irreversible encryption leads to permanent data loss.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796247" y="3077849"/>
            <a:ext cx="5395753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Loss: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User error, hardware failure, or turnover.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796247" y="3435289"/>
            <a:ext cx="5395753" cy="2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Corruption: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Inaccessible metadata or corrupted key files.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96247" y="3792728"/>
            <a:ext cx="5395753" cy="2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Permanent Loss: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"backdoor" means data is gone forever.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65915" y="5774489"/>
            <a:ext cx="2514450" cy="357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Confidentiality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728711" y="5774489"/>
            <a:ext cx="2330165" cy="357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Recoverability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718395" y="5724559"/>
            <a:ext cx="4636394" cy="457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"This fundamental tension motivates the need for secure, auditable key recovery and escrow systems."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6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700" y="446775"/>
            <a:ext cx="11000560" cy="68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700" y="2287745"/>
            <a:ext cx="3547675" cy="1836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4410" y="2466455"/>
            <a:ext cx="357420" cy="35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11" y="2529283"/>
            <a:ext cx="260619" cy="231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410" y="3300436"/>
            <a:ext cx="59570" cy="248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4410" y="3697531"/>
            <a:ext cx="59570" cy="248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22085" y="2287745"/>
            <a:ext cx="3547675" cy="1836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00795" y="2466455"/>
            <a:ext cx="357420" cy="35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38026" y="2528120"/>
            <a:ext cx="282958" cy="234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00795" y="3300436"/>
            <a:ext cx="59570" cy="89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" name="Google Shape;8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0795" y="3538716"/>
            <a:ext cx="59570" cy="248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48470" y="2287745"/>
            <a:ext cx="3547675" cy="1836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27180" y="2466455"/>
            <a:ext cx="357421" cy="35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90473" y="2529748"/>
            <a:ext cx="230834" cy="230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7180" y="3300436"/>
            <a:ext cx="59570" cy="248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27180" y="3697531"/>
            <a:ext cx="59570" cy="89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95700" y="4362690"/>
            <a:ext cx="11000560" cy="1479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014" y="4660541"/>
            <a:ext cx="595700" cy="5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914385" y="4841345"/>
            <a:ext cx="282958" cy="234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05444" y="4867174"/>
            <a:ext cx="178710" cy="29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536639" y="4600971"/>
            <a:ext cx="714841" cy="71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767473" y="4812375"/>
            <a:ext cx="253172" cy="292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715134" y="4867174"/>
            <a:ext cx="178710" cy="29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647320" y="4660541"/>
            <a:ext cx="595700" cy="5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844646" y="4843556"/>
            <a:ext cx="201049" cy="22967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774410" y="446775"/>
            <a:ext cx="10995488" cy="685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Core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95700" y="1430495"/>
            <a:ext cx="6671844" cy="618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key escrow systems attempt to solve the recovery paradox but introduce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systemic vulnerabilities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by concentrating authority.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74410" y="2943016"/>
            <a:ext cx="5555925" cy="208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46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Centralization Risk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93550" y="3240866"/>
            <a:ext cx="3071115" cy="307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71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Creates a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single point of failure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 the entire organization.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93550" y="3637961"/>
            <a:ext cx="3071115" cy="307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71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Breach of central repository exposes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all associated keys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00795" y="2943016"/>
            <a:ext cx="4386257" cy="208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46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Trust Expansion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619935" y="3240866"/>
            <a:ext cx="7572065" cy="14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71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Forces users to trust a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third-party custodian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619935" y="3479146"/>
            <a:ext cx="3071115" cy="307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71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Expanded trust boundary increases the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attack surface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227180" y="2943016"/>
            <a:ext cx="3964820" cy="208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46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High-Value Target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346320" y="3240866"/>
            <a:ext cx="3071114" cy="307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71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Concentrated authority attracts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external attackers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346320" y="3637961"/>
            <a:ext cx="3845680" cy="14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71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Increases risk of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insider abuse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or coercion.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294019" y="5367935"/>
            <a:ext cx="1523806" cy="141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222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THOUSANDS OF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737903" y="5194810"/>
            <a:ext cx="13158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Depend 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171773" y="5412613"/>
            <a:ext cx="1444573" cy="156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 ESCROW POINT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536424" y="5194810"/>
            <a:ext cx="1608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Targeted By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992632" y="5367935"/>
            <a:ext cx="1905077" cy="141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222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EXTERNAL/INSIDER THREATS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3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248" y="456186"/>
            <a:ext cx="10975437" cy="685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248" y="3001207"/>
            <a:ext cx="3496240" cy="2442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3069" y="3244506"/>
            <a:ext cx="486599" cy="486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7695" y="3347742"/>
            <a:ext cx="357346" cy="280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0382" y="2940153"/>
            <a:ext cx="3671052" cy="256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40444" y="3195617"/>
            <a:ext cx="510928" cy="510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8301" y="3302019"/>
            <a:ext cx="375213" cy="29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87327" y="3001207"/>
            <a:ext cx="3496359" cy="2442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92148" y="3244506"/>
            <a:ext cx="486599" cy="486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09996" y="3347861"/>
            <a:ext cx="250902" cy="279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8248" y="5808297"/>
            <a:ext cx="10975437" cy="593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514846" y="6026886"/>
            <a:ext cx="136856" cy="156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540114" y="6026886"/>
            <a:ext cx="136856" cy="15633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90723" y="456186"/>
            <a:ext cx="10768125" cy="685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Aim of the Paper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29898" y="1522165"/>
            <a:ext cx="6812382" cy="1114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To address the "Recovery Paradox" through a practical, evaluative model that balances data protection with operational resilience.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516225" y="3913579"/>
            <a:ext cx="1680286" cy="212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7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Teachable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51548" y="4248116"/>
            <a:ext cx="3009641" cy="685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Provide a clear, simple prototype that demonstrates the fundamental logic of dual-control key management.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181824" y="3898144"/>
            <a:ext cx="1828166" cy="223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74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Explicit Trade-offs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15846" y="4249408"/>
            <a:ext cx="3160124" cy="719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60"/>
              <a:buFont typeface="Inter"/>
              <a:buNone/>
            </a:pPr>
            <a:r>
              <a:rPr b="0" i="0" lang="en-US" sz="126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Make the tension between </a:t>
            </a:r>
            <a:r>
              <a:rPr b="1" i="0" lang="en-US" sz="126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Recoverability</a:t>
            </a:r>
            <a:r>
              <a:rPr b="0" i="0" lang="en-US" sz="126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26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Trust Concentration</a:t>
            </a:r>
            <a:r>
              <a:rPr b="0" i="0" lang="en-US" sz="126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visible and manageable.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991502" y="3913579"/>
            <a:ext cx="1687889" cy="212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7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Experimental Test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330626" y="4248116"/>
            <a:ext cx="3009760" cy="746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Empirically test the design against comparison architectures: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No Escrow vs. Single Escrow.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773351" y="5808297"/>
            <a:ext cx="9418649" cy="593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"The goal is not to eliminate all risks, but to make them explicit, testable, and manageable."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685" y="479685"/>
            <a:ext cx="11232552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685" y="1836295"/>
            <a:ext cx="2673285" cy="3149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6427" y="2076138"/>
            <a:ext cx="479685" cy="479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5086" y="2200392"/>
            <a:ext cx="202367" cy="231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32852" y="1836295"/>
            <a:ext cx="2673285" cy="3149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9594" y="2076138"/>
            <a:ext cx="479685" cy="479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27029" y="2198167"/>
            <a:ext cx="284813" cy="235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86019" y="1836295"/>
            <a:ext cx="2673285" cy="3149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82761" y="2076138"/>
            <a:ext cx="479685" cy="479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95187" y="2198401"/>
            <a:ext cx="254833" cy="235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39186" y="1836295"/>
            <a:ext cx="2673285" cy="3149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135928" y="2076138"/>
            <a:ext cx="479685" cy="479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259596" y="2199807"/>
            <a:ext cx="232347" cy="2323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9685" y="5345399"/>
            <a:ext cx="11232552" cy="1032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59567" y="5713712"/>
            <a:ext cx="217357" cy="29629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/>
          <p:nvPr/>
        </p:nvSpPr>
        <p:spPr>
          <a:xfrm>
            <a:off x="659567" y="479685"/>
            <a:ext cx="11532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Main Idea of the Proposed Design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79685" y="1056807"/>
            <a:ext cx="6715594" cy="41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1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Shifting from centralized trust to a distributed, collaborative, and auditable recovery framework.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85770" y="2643543"/>
            <a:ext cx="2061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1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Symmetric Encryption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19528" y="3065488"/>
            <a:ext cx="2193600" cy="866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Primary data is protected using </a:t>
            </a:r>
            <a:r>
              <a:rPr b="1" i="0" lang="en-US" sz="9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AES-256-GCM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 The Data Encryption Key (</a:t>
            </a:r>
            <a:r>
              <a:rPr b="1" i="0" lang="en-US" sz="9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) never leaves the client in plaintext.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043597" y="2735705"/>
            <a:ext cx="1251679" cy="209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1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Dual Custody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572695" y="3065488"/>
            <a:ext cx="2193600" cy="866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Recovery Key (</a:t>
            </a:r>
            <a:r>
              <a:rPr b="1" i="0" lang="en-US" sz="9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) is split into two equal shares. Distributed between independent custodians to prevent unilateral access.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735620" y="2735705"/>
            <a:ext cx="1573967" cy="209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1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Explicit Approval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425862" y="3065488"/>
            <a:ext cx="2193600" cy="866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Recovery is not automatic. Requires formal justification and dual sign-off via phishing-resistant </a:t>
            </a:r>
            <a:r>
              <a:rPr b="1" i="0" lang="en-US" sz="9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MFA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(FIDO2).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678740" y="2643893"/>
            <a:ext cx="13941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1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Auditable Logs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9279029" y="3065488"/>
            <a:ext cx="2193600" cy="866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Every recovery action is recorded in a tamper-evident log. Ensures complete visibility and forensic accountability for all events.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16767" y="5525281"/>
            <a:ext cx="10415589" cy="209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37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 Argument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116767" y="5765124"/>
            <a:ext cx="10415589" cy="433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escrow must exist to prevent data loss, it must be </a:t>
            </a:r>
            <a:r>
              <a:rPr b="1" i="0" lang="en-US" sz="1050" u="sng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distributed and visible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rather than concentrated in one trusted party. This design makes the trade-off between recoverability and trust explicit and testable.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89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263" y="450197"/>
            <a:ext cx="10991371" cy="6858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263" y="1920723"/>
            <a:ext cx="3503681" cy="172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1940" y="2100802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0750" y="2042955"/>
            <a:ext cx="202589" cy="231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44049" y="1920723"/>
            <a:ext cx="3503681" cy="172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55726" y="2100802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3281" y="2223434"/>
            <a:ext cx="225098" cy="234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87835" y="1920723"/>
            <a:ext cx="3503798" cy="172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99629" y="2100802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97172" y="2222965"/>
            <a:ext cx="285124" cy="235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60683" y="3884473"/>
            <a:ext cx="4415213" cy="172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528184" y="4064552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682001" y="4189645"/>
            <a:ext cx="172576" cy="230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16001" y="3884473"/>
            <a:ext cx="4415213" cy="172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183502" y="4064552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281045" y="4186715"/>
            <a:ext cx="285125" cy="23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780341" y="450197"/>
            <a:ext cx="10762771" cy="6858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Design Goals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511740" y="2458852"/>
            <a:ext cx="16806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26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Strong Encryption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80341" y="3031209"/>
            <a:ext cx="3143524" cy="43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Files must remain protected with industry-standard symmetric encryption (AES-256-GCM).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142914" y="2731077"/>
            <a:ext cx="1905834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26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Controlled Recovery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24128" y="3031209"/>
            <a:ext cx="3143524" cy="43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Data restoration is possible only under strictly defined and authorized conditions.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871811" y="2731077"/>
            <a:ext cx="1935847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26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No Unilateral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267914" y="3031209"/>
            <a:ext cx="3143641" cy="43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Prevents any single escrow custodian from recovering files without cooperation.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089242" y="4694827"/>
            <a:ext cx="1358094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26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Auditable Trail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740761" y="4994958"/>
            <a:ext cx="4055055" cy="43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Every recovery-related action is recorded in a tamper-evident audit log for accountability.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470690" y="4694827"/>
            <a:ext cx="1905834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26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Academic Simplicity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396079" y="4994958"/>
            <a:ext cx="4055055" cy="43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Design remains simple enough for teaching, implementation, and experimental evaluation.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00263" y="6257738"/>
            <a:ext cx="10991371" cy="150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Focus: Shifting the balance from unilateral power to shared responsibility and visibility.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074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57200"/>
            <a:ext cx="11277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638300"/>
            <a:ext cx="3555950" cy="1716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1866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9812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7950" y="1638300"/>
            <a:ext cx="3555950" cy="1716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46550" y="1866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60850" y="19812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78701" y="1638300"/>
            <a:ext cx="3556099" cy="1716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07301" y="1866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71600" y="3659981"/>
            <a:ext cx="4572000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00200" y="38885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00213" y="400288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48400" y="3659981"/>
            <a:ext cx="4572000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77000" y="38885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591300" y="400288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7200" y="5160169"/>
            <a:ext cx="112776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187327" y="5522119"/>
            <a:ext cx="38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685800" y="4572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System Components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62000" y="914400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Core roles and architectural entities in the dual-control framework.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295400" y="1962150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85800" y="2476500"/>
            <a:ext cx="3098750" cy="65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Initiates encryption, generates </a:t>
            </a:r>
            <a:r>
              <a:rPr b="1" i="0" lang="en-US" sz="9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and manages data access. Key material never leaves the client in plaintext.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156150" y="1962150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Storage Server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546550" y="2476500"/>
            <a:ext cx="3098750" cy="65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 passive repository for encrypted files and wrapped recovery bundles. Has </a:t>
            </a: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no decryption capability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016901" y="1962150"/>
            <a:ext cx="3175099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Custodians (A &amp; B)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407301" y="2476500"/>
            <a:ext cx="3098899" cy="65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Two authorized roles holding one share of the </a:t>
            </a:r>
            <a:r>
              <a:rPr b="1" i="0" lang="en-US" sz="9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each. Requires collaboration and MFA sign-off for recovery.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209800" y="3983831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Approval Mechanism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600200" y="4498181"/>
            <a:ext cx="41148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Formal gatekeeper workflow requiring </a:t>
            </a: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dual sign-off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 Captures justification and identity before key reconstruction.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086600" y="3983831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Audit Log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477000" y="4498181"/>
            <a:ext cx="41148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Tamper-evident, immutable record of all recovery events. Stored in WORM or blockchain-backed systems for full accountability.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286875" y="5464969"/>
            <a:ext cx="2905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"Trust must be distributed, not concentrated."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8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8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587" y="469190"/>
            <a:ext cx="10940811" cy="685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587" y="1467809"/>
            <a:ext cx="10940811" cy="1063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263" y="1671124"/>
            <a:ext cx="375352" cy="375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1912" y="1744069"/>
            <a:ext cx="258055" cy="229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40730" y="1655485"/>
            <a:ext cx="469190" cy="25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263" y="2243072"/>
            <a:ext cx="54739" cy="65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89770" y="2243072"/>
            <a:ext cx="54739" cy="65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42975" y="2844100"/>
            <a:ext cx="1305913" cy="25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30652" y="2913257"/>
            <a:ext cx="101658" cy="111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5587" y="3407129"/>
            <a:ext cx="10940811" cy="1563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3263" y="3610445"/>
            <a:ext cx="375352" cy="375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7552" y="3679846"/>
            <a:ext cx="226775" cy="23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807323" y="3594805"/>
            <a:ext cx="344073" cy="25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3263" y="4189113"/>
            <a:ext cx="5157551" cy="594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38381" y="4318385"/>
            <a:ext cx="187676" cy="148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1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221049" y="4189113"/>
            <a:ext cx="5157674" cy="594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46167" y="4318385"/>
            <a:ext cx="187676" cy="148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1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25587" y="5358179"/>
            <a:ext cx="132937" cy="13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813263" y="469190"/>
            <a:ext cx="11378737" cy="685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Key Structure: DEK and RK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313733" y="1655485"/>
            <a:ext cx="7518079" cy="250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86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Data-Encryption Key (</a:t>
            </a:r>
            <a:r>
              <a:rPr b="1" i="0" lang="en-US" sz="1644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313733" y="1905720"/>
            <a:ext cx="5652492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Primary Cryptographic Barrier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0572057" y="1721098"/>
            <a:ext cx="806666" cy="140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444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ALGORITHM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0498746" y="1894845"/>
            <a:ext cx="879977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AES-256-GCM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30561" y="2187234"/>
            <a:ext cx="11261439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Randomly generated symmetric key used to encrypt plaintext files.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307068" y="2187234"/>
            <a:ext cx="5884932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Never stored in plaintext; only active during normal operations.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794868" y="2844100"/>
            <a:ext cx="1085781" cy="250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44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WRAPPED BY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313733" y="3594805"/>
            <a:ext cx="5290500" cy="250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86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Recovery Key (</a:t>
            </a:r>
            <a:r>
              <a:rPr b="1" i="0" lang="en-US" sz="1644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RK</a:t>
            </a: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313733" y="3845040"/>
            <a:ext cx="3898270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The Escrow Authority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0645979" y="3660418"/>
            <a:ext cx="732744" cy="140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444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STRENGTH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0178744" y="3834165"/>
            <a:ext cx="1199979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256-bit Entropy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219895" y="4314230"/>
            <a:ext cx="4028212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Share 1: Custodian 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38381" y="4533186"/>
            <a:ext cx="11249305" cy="125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444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Holds 50% of the RK material. Cannot reconstruct key unilaterally.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627681" y="4314230"/>
            <a:ext cx="4028212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23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Share 2: Custodian 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346167" y="4533186"/>
            <a:ext cx="5845833" cy="125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444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Holds 50% of the RK material. Requires collaboration for recovery.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83642" y="5346449"/>
            <a:ext cx="11308358" cy="15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95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Splitting Mechanism: </a:t>
            </a:r>
            <a:r>
              <a:rPr b="0" i="1" lang="en-US" sz="1151" u="none" cap="none" strike="noStrike">
                <a:solidFill>
                  <a:srgbClr val="6B7280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XOR-based</a:t>
            </a:r>
            <a:r>
              <a:rPr b="0" i="1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0" i="1" lang="en-US" sz="1151" u="none" cap="none" strike="noStrike">
                <a:solidFill>
                  <a:srgbClr val="6B7280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Shamir’s Secret Sharing</a:t>
            </a:r>
            <a:r>
              <a:rPr b="0" i="1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ensures no single party holds full recovery power.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4" name="Google Shape;2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803" y="367803"/>
            <a:ext cx="11456381" cy="306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6" name="Google Shape;29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803" y="1752982"/>
            <a:ext cx="11456380" cy="18313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7" name="Google Shape;29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006" y="2138336"/>
            <a:ext cx="260527" cy="221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8" name="Google Shape;29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92470" y="2555826"/>
            <a:ext cx="490405" cy="490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9" name="Google Shape;29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69115" y="2678829"/>
            <a:ext cx="283515" cy="224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64644" y="2555826"/>
            <a:ext cx="490404" cy="490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0233" y="2686449"/>
            <a:ext cx="199227" cy="229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6818" y="2555826"/>
            <a:ext cx="490405" cy="490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67082" y="2690879"/>
            <a:ext cx="229877" cy="220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08993" y="2555826"/>
            <a:ext cx="490405" cy="490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12437" y="2688604"/>
            <a:ext cx="283515" cy="224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7803" y="3958076"/>
            <a:ext cx="5605529" cy="2225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3006" y="4215730"/>
            <a:ext cx="229877" cy="220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3006" y="5311478"/>
            <a:ext cx="5115124" cy="62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5607" y="5453356"/>
            <a:ext cx="429104" cy="3432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218535" y="3958076"/>
            <a:ext cx="5605649" cy="2225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463737" y="4213456"/>
            <a:ext cx="283515" cy="224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463737" y="4663033"/>
            <a:ext cx="153252" cy="19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463737" y="5014194"/>
            <a:ext cx="153252" cy="19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463737" y="5365356"/>
            <a:ext cx="153252" cy="19790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551705" y="367803"/>
            <a:ext cx="11640295" cy="306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37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Enrollment and Normal Operation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13006" y="735607"/>
            <a:ext cx="11578994" cy="214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11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Establishing the secure foundation and daily data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965484" y="2126722"/>
            <a:ext cx="6706228" cy="24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27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Phase 1: Enrollment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493250" y="3138174"/>
            <a:ext cx="858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952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1. Generation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038286" y="3552008"/>
            <a:ext cx="17988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22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Client creates random </a:t>
            </a:r>
            <a:r>
              <a:rPr b="0" i="0" lang="en-US" sz="900" u="none" cap="none" strike="noStrike">
                <a:solidFill>
                  <a:srgbClr val="6B7280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900" u="none" cap="none" strike="noStrik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 &amp; </a:t>
            </a:r>
            <a:r>
              <a:rPr b="0" i="0" lang="en-US" sz="900" u="none" cap="none" strike="noStrike">
                <a:solidFill>
                  <a:srgbClr val="6B7280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280742" y="3138182"/>
            <a:ext cx="858208" cy="153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952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2. Encryption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3838576" y="3551958"/>
            <a:ext cx="17424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22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File protected via </a:t>
            </a:r>
            <a:r>
              <a:rPr b="0" i="0" lang="en-US" sz="900" u="none" cap="none" strike="noStrike">
                <a:solidFill>
                  <a:srgbClr val="6B7280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AES-256-GCM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091229" y="3138182"/>
            <a:ext cx="781583" cy="153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952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3. Wrapping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728265" y="3551958"/>
            <a:ext cx="1507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22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900" u="none" cap="none" strike="noStrik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 is encrypted under </a:t>
            </a:r>
            <a:r>
              <a:rPr b="0" i="0" lang="en-US" sz="900" u="none" cap="none" strike="noStrike">
                <a:solidFill>
                  <a:srgbClr val="6B7280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9924705" y="3138182"/>
            <a:ext cx="658981" cy="153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952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4. 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9246567" y="3563458"/>
            <a:ext cx="20154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22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Bundle uploaded to the storage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934834" y="4203279"/>
            <a:ext cx="5455914" cy="24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27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Normal Operation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13006" y="4632383"/>
            <a:ext cx="5115124" cy="495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Under standard conditions, the user maintains full control over their data without requiring external assistance.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348612" y="5434079"/>
            <a:ext cx="3864612" cy="22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Direct Decryption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348612" y="5662639"/>
            <a:ext cx="10144614" cy="153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52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User uses local key path to access files instantly.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839203" y="4203279"/>
            <a:ext cx="5352797" cy="24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2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Custodial Independence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739589" y="4632383"/>
            <a:ext cx="5452411" cy="22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No interaction with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Custodian A or B</a:t>
            </a:r>
            <a:r>
              <a:rPr b="0" i="0" lang="en-US" sz="12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required for daily tasks.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739589" y="4983544"/>
            <a:ext cx="5452411" cy="22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Confidentiality remains strictly on the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 side</a:t>
            </a:r>
            <a:r>
              <a:rPr b="0" i="0" lang="en-US" sz="12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739589" y="5334705"/>
            <a:ext cx="5452411" cy="22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Privacy is preserved as long as the primary </a:t>
            </a: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12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is available.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67803" y="6367596"/>
            <a:ext cx="5626430" cy="12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222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Dual-Control Key Escrow Prototype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8671156" y="6367596"/>
            <a:ext cx="3520844" cy="12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222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Secure Local Execution • Zero Server Knowledge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1" name="Google Shape;3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2" name="Google Shape;3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57200"/>
            <a:ext cx="150316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906191"/>
            <a:ext cx="3454301" cy="198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213479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24909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8701" y="1906191"/>
            <a:ext cx="3454450" cy="198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7301" y="213479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02076" y="2249091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7950" y="1906191"/>
            <a:ext cx="3454301" cy="198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0" name="Google Shape;350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56550" y="213479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1" name="Google Shape;351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51800" y="2249091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828800" y="4194572"/>
            <a:ext cx="4114800" cy="1785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3" name="Google Shape;353;p1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057400" y="442317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171700" y="453747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5" name="Google Shape;355;p1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48400" y="4194572"/>
            <a:ext cx="4114800" cy="1785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6" name="Google Shape;356;p1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77000" y="442317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1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600825" y="453747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1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9" name="Google Shape;359;p1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09600" y="6419850"/>
            <a:ext cx="1238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1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636639" y="6419850"/>
            <a:ext cx="1238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1" name="Google Shape;361;p1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28418" y="641985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723900" y="457200"/>
            <a:ext cx="16282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WORKFLOW 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09600" y="762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Recovery Workflow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09600" y="1219200"/>
            <a:ext cx="1158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 deliberate, collaborative, and auditable event triggered only by necessity.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333500" y="2230041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838200" y="2668191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Trigger Condition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838200" y="3011091"/>
            <a:ext cx="2997101" cy="452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Initiated only when </a:t>
            </a:r>
            <a:r>
              <a:rPr b="0" i="0" lang="en-US" sz="1050" u="none" cap="none" strike="noStrike">
                <a:solidFill>
                  <a:srgbClr val="4B5563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is lost or inaccessible. No silent or automated recovery paths.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092601" y="2230041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597301" y="2668191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Formal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597301" y="3011091"/>
            <a:ext cx="2997250" cy="65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Custodian A submits a request with formal justification. System notifies Custodian B via secure channels.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8851850" y="2230041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8356550" y="2668191"/>
            <a:ext cx="29971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Dual Approval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8356550" y="3011091"/>
            <a:ext cx="2997101" cy="65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Both custodians must sign-off using phishing-resistant </a:t>
            </a: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MFA (FIDO2)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 Actions are timestamped.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2552700" y="4518422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2057400" y="4956572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Reconstruction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2095500" y="5299472"/>
            <a:ext cx="36576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RK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is reassembled from 2-of-2 shares. The key exists only in memory for unwrapping.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6972300" y="4518422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STEP 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6477000" y="4956572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File Restoration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477000" y="5299472"/>
            <a:ext cx="36576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Wrapped </a:t>
            </a:r>
            <a:r>
              <a:rPr b="0" i="0" lang="en-US" sz="1050" u="none" cap="none" strike="noStrike">
                <a:solidFill>
                  <a:srgbClr val="4B5563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is decrypted, original file restored, and event finalized in the </a:t>
            </a: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Immutable Audit Log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809625" y="6400800"/>
            <a:ext cx="260604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TECHNICAL INTEGRITY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2836664" y="6400800"/>
            <a:ext cx="24688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PROCEDURAL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947493" y="6400800"/>
            <a:ext cx="233172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FULL TRACEABILITY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9113044" y="6400800"/>
            <a:ext cx="30789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[ECC-2:2024 Control 2-8-1 Compliant]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9" name="Google Shape;3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0" name="Google Shape;3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71500"/>
            <a:ext cx="10668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1" name="Google Shape;3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33575"/>
            <a:ext cx="34035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2" name="Google Shape;3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2162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3" name="Google Shape;3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2764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" y="331946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" y="383381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94150" y="1933575"/>
            <a:ext cx="34035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7" name="Google Shape;39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2750" y="2162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8000" y="227647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9" name="Google Shape;399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2750" y="331946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2750" y="363378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26301" y="1933575"/>
            <a:ext cx="3403699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2" name="Google Shape;402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54901" y="2162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3" name="Google Shape;403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59676" y="227647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4" name="Google Shape;404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54901" y="3319463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5" name="Google Shape;405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54901" y="3814763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6" name="Google Shape;406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62000" y="5143500"/>
            <a:ext cx="10668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7" name="Google Shape;407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270546" y="5600700"/>
            <a:ext cx="33051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8" name="Google Shape;408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99146" y="57531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9" name="Google Shape;409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135761" y="56197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0" name="Google Shape;410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867251" y="5600700"/>
            <a:ext cx="17430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1" name="Google Shape;411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095851" y="57531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2" name="Google Shape;412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170366" y="56197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3" name="Google Shape;413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901857" y="5600700"/>
            <a:ext cx="2019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4" name="Google Shape;414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130457" y="57531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3"/>
          <p:cNvSpPr/>
          <p:nvPr/>
        </p:nvSpPr>
        <p:spPr>
          <a:xfrm>
            <a:off x="9906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300"/>
              <a:buFont typeface="Calibri"/>
              <a:buNone/>
            </a:pPr>
            <a:r>
              <a:rPr b="1" i="0" lang="en-US" sz="3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Threat Model &amp; Security Logic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1066800" y="1295400"/>
            <a:ext cx="11125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Reducing trust concentration through structural cooperation and visibility.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485900" y="2219325"/>
            <a:ext cx="34975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Server Compromise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990600" y="2695575"/>
            <a:ext cx="294635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Even with full access, attackers cannot decrypt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1200150" y="3281363"/>
            <a:ext cx="273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Server holds only ciphertext and </a:t>
            </a:r>
            <a:r>
              <a:rPr b="0" i="0" lang="en-US" sz="94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Wrapped DEK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1200150" y="3795713"/>
            <a:ext cx="43205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Does not possess </a:t>
            </a:r>
            <a:r>
              <a:rPr b="0" i="0" lang="en-US" sz="94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RK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shares.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5118050" y="2219325"/>
            <a:ext cx="39090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Unilateral Recovery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622750" y="2695575"/>
            <a:ext cx="294635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Prevention of insider abuse by overprivileged individuals.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813250" y="3281363"/>
            <a:ext cx="64541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One custodian holds only 50% of the </a:t>
            </a:r>
            <a:r>
              <a:rPr b="0" i="0" lang="en-US" sz="94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RK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4813250" y="3595688"/>
            <a:ext cx="2755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Mandatory </a:t>
            </a: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Approval Step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cannot be bypassed.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8750201" y="2219325"/>
            <a:ext cx="26746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Covert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8254901" y="2695575"/>
            <a:ext cx="2946499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Ensuring recovery is an organizational event, not a silent act.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8483501" y="3281363"/>
            <a:ext cx="27178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Audit Logs: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Immutable records of all actions.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8483501" y="3776662"/>
            <a:ext cx="27178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Real-time anomaly detection via SIEM integration.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2275433" y="5372100"/>
            <a:ext cx="2057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CORE ASSUMPTION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1842046" y="5715000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1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"Honest-but-curious" Custodians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973812" y="5372100"/>
            <a:ext cx="24688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PRIMARY CONSTRAINT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6438751" y="57150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No Collusion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9576197" y="5372100"/>
            <a:ext cx="96012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OUTCOME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9416207" y="5715000"/>
            <a:ext cx="27757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Distributed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0" name="Google Shape;4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1" name="Google Shape;4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693" y="429520"/>
            <a:ext cx="11046601" cy="685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2" name="Google Shape;44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693" y="2203302"/>
            <a:ext cx="3567587" cy="17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3" name="Google Shape;44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7479" y="2323917"/>
            <a:ext cx="458155" cy="45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4" name="Google Shape;44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1789" y="2407919"/>
            <a:ext cx="357933" cy="2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5" name="Google Shape;44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2088" y="2203302"/>
            <a:ext cx="3567699" cy="17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6" name="Google Shape;44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66860" y="2369005"/>
            <a:ext cx="458155" cy="45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7" name="Google Shape;44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4868" y="2451677"/>
            <a:ext cx="322140" cy="29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8" name="Google Shape;44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51595" y="2203302"/>
            <a:ext cx="3567587" cy="17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9" name="Google Shape;44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06256" y="2377280"/>
            <a:ext cx="458155" cy="45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0" name="Google Shape;45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92160" y="2463184"/>
            <a:ext cx="286346" cy="286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1" name="Google Shape;451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2693" y="4097552"/>
            <a:ext cx="3567587" cy="17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2" name="Google Shape;452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127354" y="4400341"/>
            <a:ext cx="458155" cy="458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3" name="Google Shape;453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31154" y="4304878"/>
            <a:ext cx="250553" cy="289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4" name="Google Shape;454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12088" y="4097552"/>
            <a:ext cx="3567699" cy="17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5" name="Google Shape;455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866860" y="4220304"/>
            <a:ext cx="458155" cy="458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6" name="Google Shape;456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952765" y="4306208"/>
            <a:ext cx="286346" cy="286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7" name="Google Shape;457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51595" y="4097552"/>
            <a:ext cx="3567587" cy="17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8" name="Google Shape;458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606381" y="4220304"/>
            <a:ext cx="458155" cy="458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9" name="Google Shape;459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767313" y="4376576"/>
            <a:ext cx="136014" cy="145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0" name="Google Shape;460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72693" y="6049071"/>
            <a:ext cx="11046601" cy="3794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1" name="Google Shape;461;p1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87232" y="6163610"/>
            <a:ext cx="150332" cy="150332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4"/>
          <p:cNvSpPr/>
          <p:nvPr/>
        </p:nvSpPr>
        <p:spPr>
          <a:xfrm>
            <a:off x="744501" y="429520"/>
            <a:ext cx="10818001" cy="68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572693" y="1258359"/>
            <a:ext cx="5497854" cy="60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2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design prioritizes the structural trust model of escrow. It is </a:t>
            </a: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not intended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to eliminate all threats or resist high-tier targeted attacks.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1422321" y="2917073"/>
            <a:ext cx="18756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2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Custodian Collusion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744501" y="3336497"/>
            <a:ext cx="3223971" cy="286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Cooperation between both parties to bypass recovery controls.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5065090" y="2940285"/>
            <a:ext cx="20616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2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Endpoint Compromise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4483896" y="3336497"/>
            <a:ext cx="3224083" cy="286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Total control of the client OS or unauthorized physical access.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8893944" y="2942798"/>
            <a:ext cx="18828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2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Client-Side Malware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8223403" y="3336497"/>
            <a:ext cx="3223971" cy="286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Keyloggers or scrapers capturing keys during local operations.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1518854" y="4812109"/>
            <a:ext cx="1675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2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Physical Coercion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744501" y="5230746"/>
            <a:ext cx="3223971" cy="286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Duress or legal force applied to all authorized parties.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147415" y="4854384"/>
            <a:ext cx="18969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2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Hardware Extraction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4483896" y="5230746"/>
            <a:ext cx="3224083" cy="286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Forensic extraction of keys from hardware-backed storage.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8893957" y="4854384"/>
            <a:ext cx="18828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2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Other External Risks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8223403" y="5230746"/>
            <a:ext cx="3223971" cy="286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Broad environmental and organizational vulnerabilities.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952102" y="6167189"/>
            <a:ext cx="11239898" cy="143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prototype serves as a teachable, evaluative model for </a:t>
            </a:r>
            <a:r>
              <a:rPr b="1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structural security governance</a:t>
            </a:r>
            <a:r>
              <a:rPr b="0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not as a hardened production-ready solution.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2" name="Google Shape;4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0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3" name="Google Shape;4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735" y="470801"/>
            <a:ext cx="10936436" cy="600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4" name="Google Shape;4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735" y="1227761"/>
            <a:ext cx="10936436" cy="761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5" name="Google Shape;4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668" y="1414119"/>
            <a:ext cx="188320" cy="198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6" name="Google Shape;48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7735" y="2302756"/>
            <a:ext cx="3478042" cy="3425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7" name="Google Shape;48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6055" y="2491689"/>
            <a:ext cx="1679190" cy="234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8" name="Google Shape;48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21289" y="2491076"/>
            <a:ext cx="196167" cy="23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9" name="Google Shape;48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6055" y="3260051"/>
            <a:ext cx="133394" cy="13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0" name="Google Shape;49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6055" y="3602363"/>
            <a:ext cx="133394" cy="13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1" name="Google Shape;49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6055" y="5185676"/>
            <a:ext cx="3101401" cy="354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2" name="Google Shape;49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356870" y="2302756"/>
            <a:ext cx="3478042" cy="3425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3" name="Google Shape;493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45191" y="2492670"/>
            <a:ext cx="1294702" cy="234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419038" y="2491076"/>
            <a:ext cx="227554" cy="237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5" name="Google Shape;495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45191" y="3262013"/>
            <a:ext cx="133394" cy="13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6" name="Google Shape;496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45191" y="3604324"/>
            <a:ext cx="133394" cy="13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7" name="Google Shape;497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45191" y="3946636"/>
            <a:ext cx="164780" cy="13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8" name="Google Shape;498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45191" y="5185676"/>
            <a:ext cx="3101401" cy="354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9" name="Google Shape;499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86006" y="2302756"/>
            <a:ext cx="3478165" cy="3425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0" name="Google Shape;500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74326" y="2491076"/>
            <a:ext cx="1255469" cy="234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1" name="Google Shape;501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093369" y="2491321"/>
            <a:ext cx="282480" cy="233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2" name="Google Shape;502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274326" y="3258825"/>
            <a:ext cx="164781" cy="13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3" name="Google Shape;503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274326" y="3601137"/>
            <a:ext cx="149087" cy="139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4" name="Google Shape;504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274326" y="3943448"/>
            <a:ext cx="102007" cy="142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5" name="Google Shape;505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274326" y="4957142"/>
            <a:ext cx="3101523" cy="582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6" name="Google Shape;506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27735" y="5979172"/>
            <a:ext cx="10936436" cy="408027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5"/>
          <p:cNvSpPr/>
          <p:nvPr/>
        </p:nvSpPr>
        <p:spPr>
          <a:xfrm>
            <a:off x="816055" y="470801"/>
            <a:ext cx="11375945" cy="6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150"/>
              <a:buFont typeface="Calibri"/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Experimental Objective &amp; Architectures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1067149" y="1384694"/>
            <a:ext cx="10622569" cy="447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33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 Objective: Evaluate if the Dual-Control model preserves data recoverability while effectively reducing trust concentration.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910215" y="2491689"/>
            <a:ext cx="3020449" cy="234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CONFIDENTIALITY FOCUS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816055" y="2852024"/>
            <a:ext cx="3101401" cy="25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No Escrow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1043609" y="3228665"/>
            <a:ext cx="5633134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Maximum data confidentiality.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1043609" y="3570976"/>
            <a:ext cx="6798610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Zero recoverability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after key loss.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816055" y="3913288"/>
            <a:ext cx="7575594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Baseline for "Security-only" scenarios.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816055" y="5185676"/>
            <a:ext cx="3101401" cy="35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Trust: MIN | Recovery: NONE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4639351" y="2492670"/>
            <a:ext cx="2193595" cy="234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CENTRALIZED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4545191" y="2853985"/>
            <a:ext cx="4328917" cy="25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Single Escrow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4772744" y="3230626"/>
            <a:ext cx="7419256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Enables data recovery via single holder.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4772744" y="3572938"/>
            <a:ext cx="6021626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Unilateral access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risk is high.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4804131" y="3915249"/>
            <a:ext cx="6798610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Single point of compromise/failure.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4545191" y="5185676"/>
            <a:ext cx="3101401" cy="35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Trust: HIGH | Recovery: FULL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8368486" y="2491076"/>
            <a:ext cx="1906534" cy="234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PROPOSED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8274326" y="2850798"/>
            <a:ext cx="3917674" cy="25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Dual-Control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8533267" y="3227438"/>
            <a:ext cx="3658733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Distributed recovery material (Shares).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8517574" y="3569750"/>
            <a:ext cx="3674426" cy="216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Mandatory </a:t>
            </a: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Approval Workflow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8470493" y="3912062"/>
            <a:ext cx="3721507" cy="216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Immutable audit log for accountability.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8274326" y="4957142"/>
            <a:ext cx="3101523" cy="582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Trust: DISTRIBUTED | Recovery: CONTROLLED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1870453" y="5979172"/>
            <a:ext cx="10321547" cy="408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714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"Testing procedure focused on whether Architecture 3 could block one-party unauthorized recovery while maintaining data integrity."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3" name="Google Shape;5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4" name="Google Shape;5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71500"/>
            <a:ext cx="10668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5" name="Google Shape;5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733550"/>
            <a:ext cx="335280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6" name="Google Shape;5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2019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7" name="Google Shape;5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5863" y="21431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31432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9" name="Google Shape;5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7750" y="375865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0" name="Google Shape;54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750" y="460265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1" name="Google Shape;54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19600" y="1733550"/>
            <a:ext cx="335280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2" name="Google Shape;54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05350" y="2019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3" name="Google Shape;54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00600" y="21431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4" name="Google Shape;54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05350" y="3790950"/>
            <a:ext cx="1333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5" name="Google Shape;545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81550" y="3905250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6" name="Google Shape;546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53150" y="3790950"/>
            <a:ext cx="1333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7" name="Google Shape;547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29350" y="39052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8" name="Google Shape;548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05350" y="4248150"/>
            <a:ext cx="1333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9" name="Google Shape;549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81550" y="4362450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0" name="Google Shape;55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53150" y="4248150"/>
            <a:ext cx="1333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1" name="Google Shape;551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29350" y="4362450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2" name="Google Shape;552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05350" y="4705350"/>
            <a:ext cx="27813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3" name="Google Shape;553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781550" y="4819650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4" name="Google Shape;554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77200" y="1733550"/>
            <a:ext cx="335280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5" name="Google Shape;5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950" y="2019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6" name="Google Shape;556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486775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7" name="Google Shape;557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362950" y="314325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8" name="Google Shape;558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62950" y="375865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9" name="Google Shape;559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362950" y="436825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0" name="Google Shape;560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62000" y="5791200"/>
            <a:ext cx="106680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6"/>
          <p:cNvSpPr/>
          <p:nvPr/>
        </p:nvSpPr>
        <p:spPr>
          <a:xfrm>
            <a:off x="990600" y="571500"/>
            <a:ext cx="1043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Prototype Setup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1047750" y="268605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Implementation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1295400" y="3105150"/>
            <a:ext cx="2533650" cy="463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Lightweight </a:t>
            </a:r>
            <a:r>
              <a:rPr b="0" i="0" lang="en-US" sz="1080" u="none" cap="none" strike="noStrike">
                <a:solidFill>
                  <a:srgbClr val="4B5563"/>
                </a:solidFill>
                <a:highlight>
                  <a:srgbClr val="E5E7EB"/>
                </a:highlight>
                <a:latin typeface="Calibri"/>
                <a:ea typeface="Calibri"/>
                <a:cs typeface="Calibri"/>
                <a:sym typeface="Calibri"/>
              </a:rPr>
              <a:t>Python 3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prototype for reproducibility.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1295400" y="3720554"/>
            <a:ext cx="2533650" cy="691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Algorithm: </a:t>
            </a:r>
            <a:r>
              <a:rPr b="0" i="0" lang="en-US" sz="1080" u="none" cap="none" strike="noStrike">
                <a:solidFill>
                  <a:srgbClr val="4B5563"/>
                </a:solidFill>
                <a:highlight>
                  <a:srgbClr val="E5E7EB"/>
                </a:highlight>
                <a:latin typeface="Calibri"/>
                <a:ea typeface="Calibri"/>
                <a:cs typeface="Calibri"/>
                <a:sym typeface="Calibri"/>
              </a:rPr>
              <a:t>AES-256-GCM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(Authenticated Symmetric Encryption).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1295400" y="4564559"/>
            <a:ext cx="2533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Ensures both confidentiality and data integrity.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4705350" y="2686050"/>
            <a:ext cx="480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Simulated Environment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4705350" y="3105150"/>
            <a:ext cx="278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Five distinct roles simulated on a single local machine: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5000625" y="3790950"/>
            <a:ext cx="1181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6419850" y="3790950"/>
            <a:ext cx="19842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Storage Server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5000625" y="4248150"/>
            <a:ext cx="15590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Custodian 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6448425" y="4248150"/>
            <a:ext cx="15590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Custodian 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4943475" y="4705350"/>
            <a:ext cx="31762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Approval/Audit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8362950" y="268605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Test Parameters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8648700" y="3105150"/>
            <a:ext cx="2495550" cy="463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Test Payload: Fixed </a:t>
            </a:r>
            <a:r>
              <a:rPr b="0" i="0" lang="en-US" sz="1080" u="none" cap="none" strike="noStrike">
                <a:solidFill>
                  <a:srgbClr val="4B5563"/>
                </a:solidFill>
                <a:highlight>
                  <a:srgbClr val="E5E7EB"/>
                </a:highlight>
                <a:latin typeface="Calibri"/>
                <a:ea typeface="Calibri"/>
                <a:cs typeface="Calibri"/>
                <a:sym typeface="Calibri"/>
              </a:rPr>
              <a:t>512 KiB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file for consistent measurement.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8629650" y="3720554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Focus: Structural and architectural trade-offs.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8629650" y="4330154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Prioritizes clarity and teaching over production scaling.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990600" y="57912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Note: All cryptographic operations were performed in isolation to prevent environmental interference during measurement.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3" name="Google Shape;5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8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4" name="Google Shape;5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039" y="437279"/>
            <a:ext cx="7324431" cy="573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5" name="Google Shape;5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039" y="1681590"/>
            <a:ext cx="5337998" cy="418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6" name="Google Shape;58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255" y="1918450"/>
            <a:ext cx="225928" cy="225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7" name="Google Shape;58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7271" y="2521759"/>
            <a:ext cx="189488" cy="199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8" name="Google Shape;58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8203" y="3154903"/>
            <a:ext cx="167624" cy="197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9" name="Google Shape;58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8203" y="3786909"/>
            <a:ext cx="167624" cy="197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0" name="Google Shape;59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763" y="4421305"/>
            <a:ext cx="240504" cy="192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1" name="Google Shape;59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9135" y="5052400"/>
            <a:ext cx="145760" cy="194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2" name="Google Shape;59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70861" y="1681590"/>
            <a:ext cx="5337998" cy="418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3" name="Google Shape;59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04077" y="1918222"/>
            <a:ext cx="196776" cy="226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4" name="Google Shape;59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04077" y="2381237"/>
            <a:ext cx="233216" cy="233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5" name="Google Shape;595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04077" y="2988760"/>
            <a:ext cx="233216" cy="233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6" name="Google Shape;596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04077" y="3618146"/>
            <a:ext cx="233216" cy="233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7" name="Google Shape;597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04077" y="4225669"/>
            <a:ext cx="233216" cy="233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8" name="Google Shape;598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83039" y="6095494"/>
            <a:ext cx="11025820" cy="325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9" name="Google Shape;599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83039" y="6270406"/>
            <a:ext cx="131184" cy="141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0" name="Google Shape;600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244523" y="6270406"/>
            <a:ext cx="102032" cy="142799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7"/>
          <p:cNvSpPr/>
          <p:nvPr/>
        </p:nvSpPr>
        <p:spPr>
          <a:xfrm>
            <a:off x="583039" y="437279"/>
            <a:ext cx="11608961" cy="573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Metrics and Testing Procedure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583039" y="1127703"/>
            <a:ext cx="11608961" cy="204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1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Experimental framework for evaluating security, performance, and integrity.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1129639" y="1914806"/>
            <a:ext cx="6811906" cy="2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Measurement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1224383" y="2381237"/>
            <a:ext cx="4063236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Performance Times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1224383" y="2646224"/>
            <a:ext cx="9202028" cy="16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Encryption/Decryption &amp; Recovery completion.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1224383" y="3013243"/>
            <a:ext cx="3824222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Storage Overhead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1224383" y="3278230"/>
            <a:ext cx="9202028" cy="16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Bytes added by recovery bundle &amp; audit logs.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1224383" y="3645248"/>
            <a:ext cx="5258305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Decryption Correctness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1224383" y="3910235"/>
            <a:ext cx="10247713" cy="16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Verification of plaintext matching original file.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1224383" y="4277254"/>
            <a:ext cx="4063236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ecurity Blocking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1224383" y="4542240"/>
            <a:ext cx="8783754" cy="16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Prevention of one-party recovery attempts.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1224383" y="4909259"/>
            <a:ext cx="5019291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Audit Chain Integrity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1224383" y="5174246"/>
            <a:ext cx="8574617" cy="16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Validation of tamper-evident log records.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6788308" y="1914806"/>
            <a:ext cx="5403692" cy="2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Testing Procedure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6587889" y="2381237"/>
            <a:ext cx="398356" cy="2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6853900" y="2381237"/>
            <a:ext cx="5258305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Normal Operation Phase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6853900" y="2609784"/>
            <a:ext cx="5338100" cy="1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Standard encryption/decryption cycles for baseline timing.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6573313" y="2988760"/>
            <a:ext cx="398356" cy="2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6853900" y="2988760"/>
            <a:ext cx="4541264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Loss Simulation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853900" y="3217307"/>
            <a:ext cx="5338100" cy="167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Intentional deletion of the client’s local </a:t>
            </a:r>
            <a:r>
              <a:rPr b="0" i="0" lang="en-US" sz="1050" u="none" cap="none" strike="noStrike">
                <a:solidFill>
                  <a:srgbClr val="4B5563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DEK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6573313" y="3618146"/>
            <a:ext cx="398356" cy="2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6853900" y="3618146"/>
            <a:ext cx="4302250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Recovery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6853900" y="3846693"/>
            <a:ext cx="5338100" cy="1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Initiating dual-custodian authentication and approval.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6569669" y="4225669"/>
            <a:ext cx="398356" cy="2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6853900" y="4225669"/>
            <a:ext cx="5338100" cy="228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Validation &amp; Audit Inspection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6853900" y="4454215"/>
            <a:ext cx="5338100" cy="1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Verification of logs and blocking of unauthorized attempts.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772527" y="6270406"/>
            <a:ext cx="6274110" cy="150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TRIALS: 100 Independent Runs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3404858" y="6270406"/>
            <a:ext cx="4182740" cy="150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 SIZE: 512 KiB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7771048" y="6272683"/>
            <a:ext cx="4420952" cy="1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333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5A27"/>
                </a:solidFill>
                <a:latin typeface="Calibri"/>
                <a:ea typeface="Calibri"/>
                <a:cs typeface="Calibri"/>
                <a:sym typeface="Calibri"/>
              </a:rPr>
              <a:t>RELIABILITY: Averages calculated over 100 trials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5" name="Google Shape;6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8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6" name="Google Shape;6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444" y="401444"/>
            <a:ext cx="11389011" cy="1273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7" name="Google Shape;6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444" y="1942142"/>
            <a:ext cx="5560625" cy="32784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8" name="Google Shape;63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166" y="2172136"/>
            <a:ext cx="175632" cy="175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9" name="Google Shape;63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166" y="2510854"/>
            <a:ext cx="5143500" cy="2509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0" name="Google Shape;6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698" y="1942142"/>
            <a:ext cx="5560757" cy="32784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1" name="Google Shape;64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0420" y="2169653"/>
            <a:ext cx="150541" cy="180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2" name="Google Shape;64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0420" y="2510854"/>
            <a:ext cx="5143500" cy="2509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3" name="Google Shape;64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1444" y="5488230"/>
            <a:ext cx="3662522" cy="968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4" name="Google Shape;64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64688" y="5488230"/>
            <a:ext cx="3662522" cy="968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5" name="Google Shape;64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27932" y="5488230"/>
            <a:ext cx="3662522" cy="96832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18"/>
          <p:cNvSpPr/>
          <p:nvPr/>
        </p:nvSpPr>
        <p:spPr>
          <a:xfrm>
            <a:off x="602166" y="401444"/>
            <a:ext cx="11589834" cy="457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Experimental Results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602166" y="925595"/>
            <a:ext cx="11589834" cy="23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93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Performance evaluation of escrow architectures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844705" y="2142864"/>
            <a:ext cx="9841230" cy="23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592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Average Recovery Completion Time (Seconds)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6647869" y="2142864"/>
            <a:ext cx="5159312" cy="23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592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Storage Overhead (%)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568712" y="5655498"/>
            <a:ext cx="3327986" cy="133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111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NORMAL OPERATION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568712" y="5952670"/>
            <a:ext cx="33279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Encryption and decryption times remained consistent across all architectures with no significant variance.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4431956" y="5655498"/>
            <a:ext cx="3327986" cy="133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111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RECOVERY LATENCY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4431956" y="5856220"/>
            <a:ext cx="3327986" cy="433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Dual-control adds </a:t>
            </a:r>
            <a:r>
              <a:rPr b="1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~0.6s</a:t>
            </a: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over single escrow due to key share reconstruction and audit logging.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8295201" y="5655498"/>
            <a:ext cx="3327985" cy="133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111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STORAGE 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8295201" y="5856220"/>
            <a:ext cx="3327985" cy="433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Minimal </a:t>
            </a:r>
            <a:r>
              <a:rPr b="1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overhead primarily from recovery bundle packaging and audit metadata.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1" name="Google Shape;6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" y="96325"/>
            <a:ext cx="12191889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2" name="Google Shape;6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820" y="386820"/>
            <a:ext cx="11418247" cy="32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3" name="Google Shape;6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20" y="3681214"/>
            <a:ext cx="11418247" cy="166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4" name="Google Shape;6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820" y="3681214"/>
            <a:ext cx="11418247" cy="48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5" name="Google Shape;66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918" y="3842389"/>
            <a:ext cx="2773974" cy="16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6" name="Google Shape;66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6820" y="4164739"/>
            <a:ext cx="11418247" cy="486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7" name="Google Shape;66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2871" y="4336365"/>
            <a:ext cx="112822" cy="153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8" name="Google Shape;66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43729" y="4339891"/>
            <a:ext cx="136999" cy="146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9" name="Google Shape;66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48469" y="4339891"/>
            <a:ext cx="136999" cy="146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0" name="Google Shape;670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6820" y="4651160"/>
            <a:ext cx="11418247" cy="486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1" name="Google Shape;671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43729" y="4827949"/>
            <a:ext cx="153116" cy="143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2" name="Google Shape;672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74115" y="4827949"/>
            <a:ext cx="153116" cy="143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3" name="Google Shape;673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86820" y="5137582"/>
            <a:ext cx="11418247" cy="486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4" name="Google Shape;674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833821" y="5309208"/>
            <a:ext cx="112822" cy="153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5" name="Google Shape;67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6820" y="5624003"/>
            <a:ext cx="11418247" cy="486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6" name="Google Shape;67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6820" y="6110425"/>
            <a:ext cx="11418247" cy="486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7" name="Google Shape;6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6820" y="6596846"/>
            <a:ext cx="11418247" cy="486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8" name="Google Shape;678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86820" y="5600834"/>
            <a:ext cx="3634120" cy="87034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9"/>
          <p:cNvSpPr/>
          <p:nvPr/>
        </p:nvSpPr>
        <p:spPr>
          <a:xfrm>
            <a:off x="580230" y="386820"/>
            <a:ext cx="11611770" cy="32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Interpreting the Comparison Tables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9"/>
          <p:cNvSpPr/>
          <p:nvPr/>
        </p:nvSpPr>
        <p:spPr>
          <a:xfrm>
            <a:off x="580230" y="773640"/>
            <a:ext cx="11611770" cy="2256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629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Inter"/>
              <a:buNone/>
            </a:pPr>
            <a:r>
              <a:rPr b="0" i="1" lang="en-US" sz="13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Analyzing the fundamental trade-offs between security, recoverability, and cost.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9"/>
          <p:cNvSpPr/>
          <p:nvPr/>
        </p:nvSpPr>
        <p:spPr>
          <a:xfrm>
            <a:off x="676935" y="3842389"/>
            <a:ext cx="2621574" cy="16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9"/>
          <p:cNvSpPr/>
          <p:nvPr/>
        </p:nvSpPr>
        <p:spPr>
          <a:xfrm>
            <a:off x="3321970" y="3842389"/>
            <a:ext cx="2773974" cy="16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ESCROW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9"/>
          <p:cNvSpPr/>
          <p:nvPr/>
        </p:nvSpPr>
        <p:spPr>
          <a:xfrm>
            <a:off x="6095944" y="3842389"/>
            <a:ext cx="2773975" cy="16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ESCROW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9"/>
          <p:cNvSpPr/>
          <p:nvPr/>
        </p:nvSpPr>
        <p:spPr>
          <a:xfrm>
            <a:off x="8869918" y="3842389"/>
            <a:ext cx="2773974" cy="16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DUAL-CONTROL ESCROW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9"/>
          <p:cNvSpPr/>
          <p:nvPr/>
        </p:nvSpPr>
        <p:spPr>
          <a:xfrm>
            <a:off x="644700" y="4293679"/>
            <a:ext cx="3882596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Recovery Capability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9"/>
          <p:cNvSpPr/>
          <p:nvPr/>
        </p:nvSpPr>
        <p:spPr>
          <a:xfrm>
            <a:off x="4600163" y="4293679"/>
            <a:ext cx="1495780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7245197" y="4293679"/>
            <a:ext cx="1640838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Unilateral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9849938" y="4293679"/>
            <a:ext cx="1826190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Dual Approval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644700" y="4780100"/>
            <a:ext cx="3065207" cy="228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Unilateral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3305852" y="4780100"/>
            <a:ext cx="2790092" cy="228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7261315" y="4780100"/>
            <a:ext cx="1624721" cy="228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High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10091700" y="4780100"/>
            <a:ext cx="1584428" cy="228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Blocked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644700" y="5266522"/>
            <a:ext cx="26376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3305852" y="5266522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6095944" y="5266522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9"/>
          <p:cNvSpPr/>
          <p:nvPr/>
        </p:nvSpPr>
        <p:spPr>
          <a:xfrm>
            <a:off x="10011113" y="5266522"/>
            <a:ext cx="1665015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Complete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644700" y="5752943"/>
            <a:ext cx="2656513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Recovery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9"/>
          <p:cNvSpPr/>
          <p:nvPr/>
        </p:nvSpPr>
        <p:spPr>
          <a:xfrm>
            <a:off x="3305852" y="5752943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9"/>
          <p:cNvSpPr/>
          <p:nvPr/>
        </p:nvSpPr>
        <p:spPr>
          <a:xfrm>
            <a:off x="6095944" y="5752943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0.3 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8886036" y="5752943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0.9 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644700" y="6239365"/>
            <a:ext cx="3269554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Storage Overhead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9"/>
          <p:cNvSpPr/>
          <p:nvPr/>
        </p:nvSpPr>
        <p:spPr>
          <a:xfrm>
            <a:off x="3305852" y="6239365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9"/>
          <p:cNvSpPr/>
          <p:nvPr/>
        </p:nvSpPr>
        <p:spPr>
          <a:xfrm>
            <a:off x="6095944" y="6239365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~2%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9"/>
          <p:cNvSpPr/>
          <p:nvPr/>
        </p:nvSpPr>
        <p:spPr>
          <a:xfrm>
            <a:off x="8886036" y="6239365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~5%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644700" y="6725786"/>
            <a:ext cx="4495637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Operational Complexity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9"/>
          <p:cNvSpPr/>
          <p:nvPr/>
        </p:nvSpPr>
        <p:spPr>
          <a:xfrm>
            <a:off x="3305852" y="6725786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9"/>
          <p:cNvSpPr/>
          <p:nvPr/>
        </p:nvSpPr>
        <p:spPr>
          <a:xfrm>
            <a:off x="6095944" y="6725786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9"/>
          <p:cNvSpPr/>
          <p:nvPr/>
        </p:nvSpPr>
        <p:spPr>
          <a:xfrm>
            <a:off x="8886036" y="6725786"/>
            <a:ext cx="2790092" cy="228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Moderate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4" name="Google Shape;7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89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5" name="Google Shape;7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89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6" name="Google Shape;7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210" y="480210"/>
            <a:ext cx="11231476" cy="571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7" name="Google Shape;7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210" y="3086663"/>
            <a:ext cx="420184" cy="421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8" name="Google Shape;71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0249" y="3176702"/>
            <a:ext cx="240105" cy="192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9" name="Google Shape;71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210" y="3765475"/>
            <a:ext cx="420184" cy="421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0" name="Google Shape;72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0249" y="3855515"/>
            <a:ext cx="240105" cy="192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1" name="Google Shape;72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210" y="4444288"/>
            <a:ext cx="367661" cy="426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2" name="Google Shape;72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0249" y="4534327"/>
            <a:ext cx="187582" cy="197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3" name="Google Shape;72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65827" y="1682025"/>
            <a:ext cx="5445859" cy="4125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4" name="Google Shape;72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5959" y="1984267"/>
            <a:ext cx="285124" cy="235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5" name="Google Shape;725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65959" y="3099676"/>
            <a:ext cx="4845596" cy="1193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6" name="Google Shape;726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46037" y="3279755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7" name="Google Shape;727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03606" y="3422786"/>
            <a:ext cx="165072" cy="194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8" name="Google Shape;728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41048" y="3581645"/>
            <a:ext cx="135059" cy="154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9" name="Google Shape;729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728498" y="3795958"/>
            <a:ext cx="360158" cy="15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0" name="Google Shape;730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729717" y="3279755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1" name="Google Shape;731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898541" y="3417980"/>
            <a:ext cx="142562" cy="203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2" name="Google Shape;732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963538" y="3581645"/>
            <a:ext cx="135059" cy="154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3" name="Google Shape;733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850989" y="3795958"/>
            <a:ext cx="360157" cy="15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4" name="Google Shape;734;p2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732155" y="3279755"/>
            <a:ext cx="480210" cy="48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5" name="Google Shape;735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0900980" y="3417980"/>
            <a:ext cx="142562" cy="203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6" name="Google Shape;736;p2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80210" y="6047645"/>
            <a:ext cx="11231476" cy="330145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0"/>
          <p:cNvSpPr/>
          <p:nvPr/>
        </p:nvSpPr>
        <p:spPr>
          <a:xfrm>
            <a:off x="660289" y="480210"/>
            <a:ext cx="11531711" cy="571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Benefits &amp; Practical Usefulness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0"/>
          <p:cNvSpPr/>
          <p:nvPr/>
        </p:nvSpPr>
        <p:spPr>
          <a:xfrm>
            <a:off x="720315" y="1111775"/>
            <a:ext cx="11471685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26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Transforming escrow from a vulnerability into a structured resilience tool.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480210" y="2606453"/>
            <a:ext cx="9054094" cy="240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55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Why Recoverability Matters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1020446" y="3086663"/>
            <a:ext cx="4439984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1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Employee Turnover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0"/>
          <p:cNvSpPr/>
          <p:nvPr/>
        </p:nvSpPr>
        <p:spPr>
          <a:xfrm>
            <a:off x="1020446" y="3296755"/>
            <a:ext cx="11171554" cy="228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Preserve institutional knowledge when key holders leave.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0"/>
          <p:cNvSpPr/>
          <p:nvPr/>
        </p:nvSpPr>
        <p:spPr>
          <a:xfrm>
            <a:off x="1020446" y="3765475"/>
            <a:ext cx="4178808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1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Hardware Failure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0"/>
          <p:cNvSpPr/>
          <p:nvPr/>
        </p:nvSpPr>
        <p:spPr>
          <a:xfrm>
            <a:off x="1020446" y="3975567"/>
            <a:ext cx="11171554" cy="228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Recovery from corrupted drives or lost local storage.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0"/>
          <p:cNvSpPr/>
          <p:nvPr/>
        </p:nvSpPr>
        <p:spPr>
          <a:xfrm>
            <a:off x="967923" y="4444288"/>
            <a:ext cx="5484686" cy="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18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Forgotten Credentials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0"/>
          <p:cNvSpPr/>
          <p:nvPr/>
        </p:nvSpPr>
        <p:spPr>
          <a:xfrm>
            <a:off x="967923" y="4654380"/>
            <a:ext cx="10911326" cy="228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Prevent permanent data loss due to human error.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0"/>
          <p:cNvSpPr/>
          <p:nvPr/>
        </p:nvSpPr>
        <p:spPr>
          <a:xfrm>
            <a:off x="6941122" y="1982156"/>
            <a:ext cx="5250878" cy="240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Case Study: Nablus Retail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0"/>
          <p:cNvSpPr/>
          <p:nvPr/>
        </p:nvSpPr>
        <p:spPr>
          <a:xfrm>
            <a:off x="6565959" y="2402340"/>
            <a:ext cx="4845596" cy="457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"A family-owned shop in Nablus uses dual-control for financial records, balancing privacy with business continuity."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0"/>
          <p:cNvSpPr/>
          <p:nvPr/>
        </p:nvSpPr>
        <p:spPr>
          <a:xfrm>
            <a:off x="6746037" y="3819992"/>
            <a:ext cx="480210" cy="15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Owner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6746037" y="3970057"/>
            <a:ext cx="480210" cy="142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SHARE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0"/>
          <p:cNvSpPr/>
          <p:nvPr/>
        </p:nvSpPr>
        <p:spPr>
          <a:xfrm>
            <a:off x="8523574" y="3856225"/>
            <a:ext cx="89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Accountant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0"/>
          <p:cNvSpPr/>
          <p:nvPr/>
        </p:nvSpPr>
        <p:spPr>
          <a:xfrm>
            <a:off x="8590931" y="4005932"/>
            <a:ext cx="757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SHARE 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10713397" y="3819992"/>
            <a:ext cx="517727" cy="15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10713397" y="3970057"/>
            <a:ext cx="517727" cy="142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RECOVERY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0"/>
          <p:cNvSpPr/>
          <p:nvPr/>
        </p:nvSpPr>
        <p:spPr>
          <a:xfrm>
            <a:off x="6565959" y="4533038"/>
            <a:ext cx="4845596" cy="15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Security Outcomes: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6716024" y="4743130"/>
            <a:ext cx="5475976" cy="15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Zero unilateral access to financial records.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6716024" y="4923208"/>
            <a:ext cx="5475976" cy="15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Full audit trail for compliance.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0"/>
          <p:cNvSpPr/>
          <p:nvPr/>
        </p:nvSpPr>
        <p:spPr>
          <a:xfrm>
            <a:off x="6716024" y="5103287"/>
            <a:ext cx="5475976" cy="150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71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Shared responsibility, reduced insider risk.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3" name="Google Shape;7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8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4" name="Google Shape;7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459" y="484094"/>
            <a:ext cx="10901069" cy="615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5" name="Google Shape;7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459" y="1422657"/>
            <a:ext cx="3461525" cy="443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6" name="Google Shape;76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096" y="1616295"/>
            <a:ext cx="225911" cy="225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7" name="Google Shape;76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65168" y="1422657"/>
            <a:ext cx="3461525" cy="443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8" name="Google Shape;76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8805" y="1616295"/>
            <a:ext cx="225911" cy="225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9" name="Google Shape;76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58805" y="2068116"/>
            <a:ext cx="112955" cy="431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0" name="Google Shape;77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58805" y="2660753"/>
            <a:ext cx="112955" cy="431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1" name="Google Shape;77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58805" y="3253390"/>
            <a:ext cx="112955" cy="431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2" name="Google Shape;77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8805" y="3846027"/>
            <a:ext cx="112955" cy="431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3" name="Google Shape;773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58805" y="4535483"/>
            <a:ext cx="3074250" cy="530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4" name="Google Shape;774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40311" y="4665205"/>
            <a:ext cx="500231" cy="9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5" name="Google Shape;775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45496" y="4751560"/>
            <a:ext cx="88750" cy="98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6" name="Google Shape;776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39200" y="4664701"/>
            <a:ext cx="379207" cy="971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7" name="Google Shape;777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23361" y="4751560"/>
            <a:ext cx="88751" cy="98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8" name="Google Shape;778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17066" y="4664575"/>
            <a:ext cx="233979" cy="97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9" name="Google Shape;779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084876" y="1422657"/>
            <a:ext cx="3461651" cy="443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0" name="Google Shape;780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278514" y="1616295"/>
            <a:ext cx="225911" cy="225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1" name="Google Shape;781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45459" y="6115723"/>
            <a:ext cx="10901069" cy="258183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1"/>
          <p:cNvSpPr/>
          <p:nvPr/>
        </p:nvSpPr>
        <p:spPr>
          <a:xfrm>
            <a:off x="806824" y="484094"/>
            <a:ext cx="11385176" cy="322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11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Risks, Improvements, and Limitations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1"/>
          <p:cNvSpPr/>
          <p:nvPr/>
        </p:nvSpPr>
        <p:spPr>
          <a:xfrm>
            <a:off x="806824" y="871369"/>
            <a:ext cx="11385176" cy="22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Evaluating the boundaries of the dual-control prototype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1"/>
          <p:cNvSpPr/>
          <p:nvPr/>
        </p:nvSpPr>
        <p:spPr>
          <a:xfrm>
            <a:off x="1161826" y="1616295"/>
            <a:ext cx="4317998" cy="225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6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GOVERNANCE RISKS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1"/>
          <p:cNvSpPr/>
          <p:nvPr/>
        </p:nvSpPr>
        <p:spPr>
          <a:xfrm>
            <a:off x="839096" y="2035843"/>
            <a:ext cx="188913" cy="43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0400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C04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1"/>
          <p:cNvSpPr/>
          <p:nvPr/>
        </p:nvSpPr>
        <p:spPr>
          <a:xfrm>
            <a:off x="968188" y="2035843"/>
            <a:ext cx="2945158" cy="43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Attacker Magnet: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Escrow systems become high-value targets for external breaches.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1"/>
          <p:cNvSpPr/>
          <p:nvPr/>
        </p:nvSpPr>
        <p:spPr>
          <a:xfrm>
            <a:off x="839096" y="2598350"/>
            <a:ext cx="188913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0400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C04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1"/>
          <p:cNvSpPr/>
          <p:nvPr/>
        </p:nvSpPr>
        <p:spPr>
          <a:xfrm>
            <a:off x="968188" y="2598350"/>
            <a:ext cx="2945158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Insider Misuse: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Potential for authorized users to abuse recovery paths.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1"/>
          <p:cNvSpPr/>
          <p:nvPr/>
        </p:nvSpPr>
        <p:spPr>
          <a:xfrm>
            <a:off x="839096" y="3160857"/>
            <a:ext cx="188913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0400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C04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1"/>
          <p:cNvSpPr/>
          <p:nvPr/>
        </p:nvSpPr>
        <p:spPr>
          <a:xfrm>
            <a:off x="968188" y="3160857"/>
            <a:ext cx="2945158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Coercion: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Legal or physical pressure on custodians to bypass controls.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1"/>
          <p:cNvSpPr/>
          <p:nvPr/>
        </p:nvSpPr>
        <p:spPr>
          <a:xfrm>
            <a:off x="839096" y="3723365"/>
            <a:ext cx="188913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0400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C04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1"/>
          <p:cNvSpPr/>
          <p:nvPr/>
        </p:nvSpPr>
        <p:spPr>
          <a:xfrm>
            <a:off x="968188" y="3723365"/>
            <a:ext cx="2945158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Governance Failure: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Breakdown of organizational procedures and oversight.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1"/>
          <p:cNvSpPr/>
          <p:nvPr/>
        </p:nvSpPr>
        <p:spPr>
          <a:xfrm>
            <a:off x="4881535" y="1616295"/>
            <a:ext cx="4048123" cy="225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6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1"/>
          <p:cNvSpPr/>
          <p:nvPr/>
        </p:nvSpPr>
        <p:spPr>
          <a:xfrm>
            <a:off x="4736306" y="2035843"/>
            <a:ext cx="2896749" cy="46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Distributed Recovery: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Shift from unilateral to multi-party authority.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1"/>
          <p:cNvSpPr/>
          <p:nvPr/>
        </p:nvSpPr>
        <p:spPr>
          <a:xfrm>
            <a:off x="4736306" y="2628480"/>
            <a:ext cx="2896749" cy="463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Explicit Authorization: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Require formal dual-approval for all actions.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1"/>
          <p:cNvSpPr/>
          <p:nvPr/>
        </p:nvSpPr>
        <p:spPr>
          <a:xfrm>
            <a:off x="4736306" y="3221117"/>
            <a:ext cx="2896749" cy="46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Transparency: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Real-time alerting and public (internal) logging.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1"/>
          <p:cNvSpPr/>
          <p:nvPr/>
        </p:nvSpPr>
        <p:spPr>
          <a:xfrm>
            <a:off x="4736306" y="3813754"/>
            <a:ext cx="2896749" cy="46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Rotating Authority: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Periodic updates of custodians to prevent stagnation.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1"/>
          <p:cNvSpPr/>
          <p:nvPr/>
        </p:nvSpPr>
        <p:spPr>
          <a:xfrm>
            <a:off x="4822875" y="4828975"/>
            <a:ext cx="500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Multi-party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1"/>
          <p:cNvSpPr/>
          <p:nvPr/>
        </p:nvSpPr>
        <p:spPr>
          <a:xfrm>
            <a:off x="6039200" y="4763976"/>
            <a:ext cx="379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Visibility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1"/>
          <p:cNvSpPr/>
          <p:nvPr/>
        </p:nvSpPr>
        <p:spPr>
          <a:xfrm>
            <a:off x="7014525" y="4828375"/>
            <a:ext cx="37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Audit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1"/>
          <p:cNvSpPr/>
          <p:nvPr/>
        </p:nvSpPr>
        <p:spPr>
          <a:xfrm>
            <a:off x="8601243" y="1616295"/>
            <a:ext cx="3590757" cy="225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6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PROTOTYPE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1"/>
          <p:cNvSpPr/>
          <p:nvPr/>
        </p:nvSpPr>
        <p:spPr>
          <a:xfrm>
            <a:off x="8278514" y="2035843"/>
            <a:ext cx="629709" cy="43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1"/>
          <p:cNvSpPr/>
          <p:nvPr/>
        </p:nvSpPr>
        <p:spPr>
          <a:xfrm>
            <a:off x="8480220" y="2035843"/>
            <a:ext cx="2872670" cy="43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1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Teaching Prototype: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Designed for evaluation, not high-volume production.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1"/>
          <p:cNvSpPr/>
          <p:nvPr/>
        </p:nvSpPr>
        <p:spPr>
          <a:xfrm>
            <a:off x="8278514" y="2598350"/>
            <a:ext cx="629709" cy="65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1"/>
          <p:cNvSpPr/>
          <p:nvPr/>
        </p:nvSpPr>
        <p:spPr>
          <a:xfrm>
            <a:off x="8504425" y="2598350"/>
            <a:ext cx="2848465" cy="65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1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Local Environment: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Measurements conducted on a single machine simulate roles.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1"/>
          <p:cNvSpPr/>
          <p:nvPr/>
        </p:nvSpPr>
        <p:spPr>
          <a:xfrm>
            <a:off x="8278514" y="3377565"/>
            <a:ext cx="629709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1"/>
          <p:cNvSpPr/>
          <p:nvPr/>
        </p:nvSpPr>
        <p:spPr>
          <a:xfrm>
            <a:off x="8504425" y="3377565"/>
            <a:ext cx="2848465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1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Audit Verifiability: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Logs are simple and not yet cryptographically immutable.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1"/>
          <p:cNvSpPr/>
          <p:nvPr/>
        </p:nvSpPr>
        <p:spPr>
          <a:xfrm>
            <a:off x="8278514" y="3940072"/>
            <a:ext cx="629709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1"/>
          <p:cNvSpPr/>
          <p:nvPr/>
        </p:nvSpPr>
        <p:spPr>
          <a:xfrm>
            <a:off x="8512493" y="3940072"/>
            <a:ext cx="2840397" cy="433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Inter"/>
              <a:buNone/>
            </a:pPr>
            <a:r>
              <a:rPr b="1" i="1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Collusion Risk: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System cannot technicaly prevent two custodians from conspiring.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5" name="Google Shape;8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6" name="Google Shape;8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609600"/>
            <a:ext cx="109728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7" name="Google Shape;8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489025"/>
            <a:ext cx="109728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8" name="Google Shape;8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187002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9" name="Google Shape;81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3940076"/>
            <a:ext cx="34544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0" name="Google Shape;82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282976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1" name="Google Shape;82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68850" y="3940076"/>
            <a:ext cx="34544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2" name="Google Shape;822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3650" y="4282976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3" name="Google Shape;823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99" y="3940076"/>
            <a:ext cx="34544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4" name="Google Shape;824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2899" y="428297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5" name="Google Shape;825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9600" y="5600551"/>
            <a:ext cx="109728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6" name="Google Shape;826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51318" y="5905351"/>
            <a:ext cx="223108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2"/>
          <p:cNvSpPr/>
          <p:nvPr/>
        </p:nvSpPr>
        <p:spPr>
          <a:xfrm>
            <a:off x="838200" y="609600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2"/>
          <p:cNvSpPr/>
          <p:nvPr/>
        </p:nvSpPr>
        <p:spPr>
          <a:xfrm>
            <a:off x="609600" y="12192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Research Summary &amp; Final 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2"/>
          <p:cNvSpPr/>
          <p:nvPr/>
        </p:nvSpPr>
        <p:spPr>
          <a:xfrm>
            <a:off x="1647825" y="1870025"/>
            <a:ext cx="10544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Escrow is a Structural Choice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2"/>
          <p:cNvSpPr/>
          <p:nvPr/>
        </p:nvSpPr>
        <p:spPr>
          <a:xfrm>
            <a:off x="990600" y="2441525"/>
            <a:ext cx="102108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Key escrow is not inherently a security liability; its value depends on how recovery authority is </a:t>
            </a:r>
            <a:r>
              <a:rPr b="1" i="0" lang="en-US" sz="1800" u="none" cap="none" strike="noStrike">
                <a:solidFill>
                  <a:srgbClr val="2D5A27"/>
                </a:solidFill>
                <a:latin typeface="Inter"/>
                <a:ea typeface="Inter"/>
                <a:cs typeface="Inter"/>
                <a:sym typeface="Inter"/>
              </a:rPr>
              <a:t>structured</a:t>
            </a:r>
            <a:r>
              <a:rPr b="0" i="0" lang="en-US" sz="18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 Distributed designs successfully shift the balance from unilateral power to collective accountability.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2"/>
          <p:cNvSpPr/>
          <p:nvPr/>
        </p:nvSpPr>
        <p:spPr>
          <a:xfrm>
            <a:off x="1266825" y="4244876"/>
            <a:ext cx="37033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Distribute Control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2"/>
          <p:cNvSpPr/>
          <p:nvPr/>
        </p:nvSpPr>
        <p:spPr>
          <a:xfrm>
            <a:off x="914400" y="4663976"/>
            <a:ext cx="2844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Replace single points of failure with multi-party authorization and split knowledge.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2"/>
          <p:cNvSpPr/>
          <p:nvPr/>
        </p:nvSpPr>
        <p:spPr>
          <a:xfrm>
            <a:off x="5007025" y="4244876"/>
            <a:ext cx="3291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Document Actions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2"/>
          <p:cNvSpPr/>
          <p:nvPr/>
        </p:nvSpPr>
        <p:spPr>
          <a:xfrm>
            <a:off x="4673650" y="4663976"/>
            <a:ext cx="2844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Ensure recovery is a visible, auditable event with immutable logging and formal sign-offs.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2"/>
          <p:cNvSpPr/>
          <p:nvPr/>
        </p:nvSpPr>
        <p:spPr>
          <a:xfrm>
            <a:off x="8718649" y="4244876"/>
            <a:ext cx="28803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Minimize Scope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2"/>
          <p:cNvSpPr/>
          <p:nvPr/>
        </p:nvSpPr>
        <p:spPr>
          <a:xfrm>
            <a:off x="8432899" y="4663976"/>
            <a:ext cx="2844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Limit escrow to essential recovery needs, preventing it from becoming a general-purpose backdoor.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2"/>
          <p:cNvSpPr/>
          <p:nvPr/>
        </p:nvSpPr>
        <p:spPr>
          <a:xfrm>
            <a:off x="609600" y="5943451"/>
            <a:ext cx="1158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Inter"/>
              <a:buNone/>
            </a:pPr>
            <a:r>
              <a:rPr b="1" i="1" lang="en-US" sz="13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"Towards a secure, resilient, and accountable cryptographic future."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2"/>
          <p:cNvSpPr/>
          <p:nvPr/>
        </p:nvSpPr>
        <p:spPr>
          <a:xfrm>
            <a:off x="9579918" y="5905351"/>
            <a:ext cx="24173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Dual-Control Key Escrow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